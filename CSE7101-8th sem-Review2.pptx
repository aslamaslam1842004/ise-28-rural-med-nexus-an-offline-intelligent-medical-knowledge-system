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2" r:id="rId11"/>
    <p:sldId id="271" r:id="rId12"/>
    <p:sldId id="273" r:id="rId13"/>
    <p:sldId id="274" r:id="rId14"/>
    <p:sldId id="270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858FE7-063A-4DBD-B20A-D27D511E665A}" v="16" dt="2026-04-20T12:05:45.7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vuri nizam" userId="a610bd2f6c0a5cf4" providerId="LiveId" clId="{AD7561CC-E29F-482C-8B2D-63DF8561265E}"/>
    <pc:docChg chg="custSel addSld delSld modSld sldOrd">
      <pc:chgData name="kovuri nizam" userId="a610bd2f6c0a5cf4" providerId="LiveId" clId="{AD7561CC-E29F-482C-8B2D-63DF8561265E}" dt="2026-04-20T12:29:38.926" v="97" actId="2696"/>
      <pc:docMkLst>
        <pc:docMk/>
      </pc:docMkLst>
      <pc:sldChg chg="modSp mod">
        <pc:chgData name="kovuri nizam" userId="a610bd2f6c0a5cf4" providerId="LiveId" clId="{AD7561CC-E29F-482C-8B2D-63DF8561265E}" dt="2026-04-20T12:07:00.042" v="95" actId="20577"/>
        <pc:sldMkLst>
          <pc:docMk/>
          <pc:sldMk cId="0" sldId="256"/>
        </pc:sldMkLst>
        <pc:spChg chg="mod">
          <ac:chgData name="kovuri nizam" userId="a610bd2f6c0a5cf4" providerId="LiveId" clId="{AD7561CC-E29F-482C-8B2D-63DF8561265E}" dt="2026-04-20T12:07:00.042" v="95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ord">
        <pc:chgData name="kovuri nizam" userId="a610bd2f6c0a5cf4" providerId="LiveId" clId="{AD7561CC-E29F-482C-8B2D-63DF8561265E}" dt="2026-04-20T11:59:08.463" v="3"/>
        <pc:sldMkLst>
          <pc:docMk/>
          <pc:sldMk cId="3036710442" sldId="273"/>
        </pc:sldMkLst>
        <pc:spChg chg="mod">
          <ac:chgData name="kovuri nizam" userId="a610bd2f6c0a5cf4" providerId="LiveId" clId="{AD7561CC-E29F-482C-8B2D-63DF8561265E}" dt="2026-04-20T11:58:11.254" v="0"/>
          <ac:spMkLst>
            <pc:docMk/>
            <pc:sldMk cId="3036710442" sldId="273"/>
            <ac:spMk id="2" creationId="{4BE9938D-563F-9673-220B-0D9DBCCF5EF0}"/>
          </ac:spMkLst>
        </pc:spChg>
      </pc:sldChg>
      <pc:sldChg chg="modSp ord">
        <pc:chgData name="kovuri nizam" userId="a610bd2f6c0a5cf4" providerId="LiveId" clId="{AD7561CC-E29F-482C-8B2D-63DF8561265E}" dt="2026-04-20T11:59:10.818" v="5"/>
        <pc:sldMkLst>
          <pc:docMk/>
          <pc:sldMk cId="3505626533" sldId="274"/>
        </pc:sldMkLst>
        <pc:spChg chg="mod">
          <ac:chgData name="kovuri nizam" userId="a610bd2f6c0a5cf4" providerId="LiveId" clId="{AD7561CC-E29F-482C-8B2D-63DF8561265E}" dt="2026-04-20T11:58:17.268" v="1"/>
          <ac:spMkLst>
            <pc:docMk/>
            <pc:sldMk cId="3505626533" sldId="274"/>
            <ac:spMk id="2" creationId="{3F7F0980-E34B-6230-FAFE-98DC27B6714E}"/>
          </ac:spMkLst>
        </pc:spChg>
      </pc:sldChg>
      <pc:sldChg chg="addSp delSp modSp add del mod ord">
        <pc:chgData name="kovuri nizam" userId="a610bd2f6c0a5cf4" providerId="LiveId" clId="{AD7561CC-E29F-482C-8B2D-63DF8561265E}" dt="2026-04-20T12:29:35.065" v="96" actId="2696"/>
        <pc:sldMkLst>
          <pc:docMk/>
          <pc:sldMk cId="200229679" sldId="275"/>
        </pc:sldMkLst>
        <pc:spChg chg="mod">
          <ac:chgData name="kovuri nizam" userId="a610bd2f6c0a5cf4" providerId="LiveId" clId="{AD7561CC-E29F-482C-8B2D-63DF8561265E}" dt="2026-04-20T12:01:05.641" v="18" actId="20577"/>
          <ac:spMkLst>
            <pc:docMk/>
            <pc:sldMk cId="200229679" sldId="275"/>
            <ac:spMk id="2" creationId="{845BA5B7-E01B-E4B6-6D0B-FF421995154D}"/>
          </ac:spMkLst>
        </pc:spChg>
        <pc:picChg chg="del">
          <ac:chgData name="kovuri nizam" userId="a610bd2f6c0a5cf4" providerId="LiveId" clId="{AD7561CC-E29F-482C-8B2D-63DF8561265E}" dt="2026-04-20T11:59:57.305" v="9" actId="21"/>
          <ac:picMkLst>
            <pc:docMk/>
            <pc:sldMk cId="200229679" sldId="275"/>
            <ac:picMk id="4" creationId="{543F889B-086A-B234-F4DC-DF69B405F744}"/>
          </ac:picMkLst>
        </pc:picChg>
        <pc:picChg chg="add del mod">
          <ac:chgData name="kovuri nizam" userId="a610bd2f6c0a5cf4" providerId="LiveId" clId="{AD7561CC-E29F-482C-8B2D-63DF8561265E}" dt="2026-04-20T12:00:22.940" v="12" actId="21"/>
          <ac:picMkLst>
            <pc:docMk/>
            <pc:sldMk cId="200229679" sldId="275"/>
            <ac:picMk id="5" creationId="{AD0B4F95-0C56-CCEC-9511-EC6F45D6B644}"/>
          </ac:picMkLst>
        </pc:picChg>
        <pc:picChg chg="add mod">
          <ac:chgData name="kovuri nizam" userId="a610bd2f6c0a5cf4" providerId="LiveId" clId="{AD7561CC-E29F-482C-8B2D-63DF8561265E}" dt="2026-04-20T12:00:41.371" v="16" actId="14100"/>
          <ac:picMkLst>
            <pc:docMk/>
            <pc:sldMk cId="200229679" sldId="275"/>
            <ac:picMk id="6" creationId="{9B320800-575C-7897-9932-8949B32E1D0B}"/>
          </ac:picMkLst>
        </pc:picChg>
      </pc:sldChg>
      <pc:sldChg chg="addSp delSp modSp add del mod">
        <pc:chgData name="kovuri nizam" userId="a610bd2f6c0a5cf4" providerId="LiveId" clId="{AD7561CC-E29F-482C-8B2D-63DF8561265E}" dt="2026-04-20T12:29:38.926" v="97" actId="2696"/>
        <pc:sldMkLst>
          <pc:docMk/>
          <pc:sldMk cId="353308626" sldId="276"/>
        </pc:sldMkLst>
        <pc:spChg chg="del mod">
          <ac:chgData name="kovuri nizam" userId="a610bd2f6c0a5cf4" providerId="LiveId" clId="{AD7561CC-E29F-482C-8B2D-63DF8561265E}" dt="2026-04-20T12:04:56.231" v="47"/>
          <ac:spMkLst>
            <pc:docMk/>
            <pc:sldMk cId="353308626" sldId="276"/>
            <ac:spMk id="3" creationId="{9F02DCCA-B0E2-EFFF-9B2D-2C22BD9FF931}"/>
          </ac:spMkLst>
        </pc:spChg>
        <pc:spChg chg="add del mod">
          <ac:chgData name="kovuri nizam" userId="a610bd2f6c0a5cf4" providerId="LiveId" clId="{AD7561CC-E29F-482C-8B2D-63DF8561265E}" dt="2026-04-20T12:03:52.726" v="40"/>
          <ac:spMkLst>
            <pc:docMk/>
            <pc:sldMk cId="353308626" sldId="276"/>
            <ac:spMk id="5" creationId="{3077E4EB-D227-E3EA-075E-73E9ECB02646}"/>
          </ac:spMkLst>
        </pc:spChg>
        <pc:spChg chg="add">
          <ac:chgData name="kovuri nizam" userId="a610bd2f6c0a5cf4" providerId="LiveId" clId="{AD7561CC-E29F-482C-8B2D-63DF8561265E}" dt="2026-04-20T12:04:39.865" v="45"/>
          <ac:spMkLst>
            <pc:docMk/>
            <pc:sldMk cId="353308626" sldId="276"/>
            <ac:spMk id="7" creationId="{777D349B-A71F-C9E4-7185-D31FA0D303B0}"/>
          </ac:spMkLst>
        </pc:spChg>
        <pc:spChg chg="add mod">
          <ac:chgData name="kovuri nizam" userId="a610bd2f6c0a5cf4" providerId="LiveId" clId="{AD7561CC-E29F-482C-8B2D-63DF8561265E}" dt="2026-04-20T12:05:45.720" v="93" actId="1076"/>
          <ac:spMkLst>
            <pc:docMk/>
            <pc:sldMk cId="353308626" sldId="276"/>
            <ac:spMk id="8" creationId="{3EB25952-4C0B-D0BA-C547-5A236E40E3E8}"/>
          </ac:spMkLst>
        </pc:spChg>
        <pc:picChg chg="add del mod">
          <ac:chgData name="kovuri nizam" userId="a610bd2f6c0a5cf4" providerId="LiveId" clId="{AD7561CC-E29F-482C-8B2D-63DF8561265E}" dt="2026-04-20T12:02:38.289" v="22" actId="478"/>
          <ac:picMkLst>
            <pc:docMk/>
            <pc:sldMk cId="353308626" sldId="276"/>
            <ac:picMk id="4" creationId="{6DB416D8-79CF-86DB-9C32-7262F07BBFCD}"/>
          </ac:picMkLst>
        </pc:picChg>
        <pc:picChg chg="del">
          <ac:chgData name="kovuri nizam" userId="a610bd2f6c0a5cf4" providerId="LiveId" clId="{AD7561CC-E29F-482C-8B2D-63DF8561265E}" dt="2026-04-20T12:02:26.326" v="20" actId="21"/>
          <ac:picMkLst>
            <pc:docMk/>
            <pc:sldMk cId="353308626" sldId="276"/>
            <ac:picMk id="6" creationId="{6DB416D8-79CF-86DB-9C32-7262F07BBFC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document/d/1w70A5VUjR2AJNsuT8rj2ZRq6hJxGVsoM/edit?usp=sharing&amp;ouid=114184743348783537691&amp;rtpof=true&amp;sd=tru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mbria"/>
                <a:cs typeface="Cambria"/>
              </a:rPr>
              <a:t>SIH25231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lang="en-US" sz="2400" b="1" spc="-55" dirty="0">
                <a:latin typeface="Cambria"/>
                <a:cs typeface="Cambria"/>
              </a:rPr>
              <a:t>-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RURALMED NEXUS: AN OFFLINE INTELLIGENT MEDICAL KNOWLEDGE SYSTEM</a:t>
            </a:r>
          </a:p>
          <a:p>
            <a:pPr marL="12700" algn="l">
              <a:lnSpc>
                <a:spcPct val="100000"/>
              </a:lnSpc>
            </a:pP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lang="en-US"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lang="en-US"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lang="en-US"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spc="-25" dirty="0">
                <a:solidFill>
                  <a:srgbClr val="16365D"/>
                </a:solidFill>
                <a:latin typeface="Cambria"/>
                <a:cs typeface="Cambria"/>
              </a:rPr>
              <a:t>28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59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Mr. Santhosh Kumar K L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2684780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20221ISE0053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20221ISE0084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6365D"/>
                </a:solidFill>
                <a:latin typeface="Cambria"/>
                <a:cs typeface="Cambria"/>
              </a:rPr>
              <a:t>Name </a:t>
            </a:r>
            <a:r>
              <a:rPr sz="1800" b="1" dirty="0">
                <a:latin typeface="Cambria"/>
                <a:cs typeface="Cambria"/>
              </a:rPr>
              <a:t>Mohamed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Aslam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Pasha </a:t>
            </a:r>
            <a:r>
              <a:rPr sz="1800" b="1" dirty="0">
                <a:latin typeface="Cambria"/>
                <a:cs typeface="Cambria"/>
              </a:rPr>
              <a:t>Kovuri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Nizamuddin </a:t>
            </a:r>
            <a:r>
              <a:rPr sz="1800" b="1" dirty="0">
                <a:latin typeface="Cambria"/>
                <a:cs typeface="Cambria"/>
              </a:rPr>
              <a:t>Vaseem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M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/>
              <a:t>Project Review-</a:t>
            </a:r>
            <a:r>
              <a:rPr lang="en-US" sz="1800" spc="-50" dirty="0"/>
              <a:t>2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lang="en-US"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Sumita Guddin</a:t>
            </a:r>
            <a:r>
              <a:rPr lang="en-US" b="1" dirty="0"/>
              <a:t> </a:t>
            </a:r>
            <a:endParaRPr sz="1800" b="1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564770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Flow Diagram 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/>
              <a:t>Literature Survey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74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>
                <a:latin typeface="Cambria"/>
                <a:cs typeface="Cambria"/>
              </a:rPr>
              <a:t>Problem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Description:</a:t>
            </a:r>
            <a:r>
              <a:rPr sz="1800" b="1" spc="254" dirty="0">
                <a:latin typeface="Cambria"/>
                <a:cs typeface="Cambria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With the rapid growth of unstructured and multimodal data, organizations increasingly rely on documents, scanned images, and voice recordings to store critical information. However, existing information retrieval and question-answering systems are largely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text-centric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cloud-dependent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making them unsuitable for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offline, secure, or resource-constrained environments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such as defense systems, healthcare facilities, research labs, and remote locations.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Traditional search systems struggle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understand semantic meaning across multiple data formats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like DOC files, PDFs, images, and audio recordings. They often require separate processing pipelines for each modality and lack a unified framework for cross-modal retrieval. Moreover, most modern Large Language Model (LLM)–based solutions depend heavily on internet connectivity and external APIs, raising concerns related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 privacy, latency, regulatory compliance, and operational continuity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10511790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Develop an Offline-Capable RAG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Design a complete RAG pipeline that functions entirely in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eliminating dependency on cloud services or   external APIs.</a:t>
            </a:r>
            <a:endParaRPr spc="-10" dirty="0">
              <a:latin typeface="Cambria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2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Enable Multimodal Data Ingestion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robust ingestion mechanisms for multiple data formats including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images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audio recordings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3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Create a Unified Semantic Embedding Framework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 all modalities into a common vector embedding space using modality-specific encoders. </a:t>
            </a:r>
          </a:p>
          <a:p>
            <a:pPr marL="190500"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4.Design an Efficient Offline Indexing and Retrieval Mechanism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a local vector database or similarity search index to store multimodal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200000"/>
              </a:lnSpc>
              <a:spcBef>
                <a:spcPts val="95"/>
              </a:spcBef>
              <a:buAutoNum type="arabicPeriod" startAt="5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an Offline Large Language Model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 a lightweight or optimized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LLM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capable of understanding retrieved context and generating meaningful responses.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6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Support Context-Aware Question Answering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48895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users to query the system using natural language and receive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contextually accurate, explainable responses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grounded in retrieved documents.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7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Ensure Data Privacy and Security</a:t>
            </a:r>
            <a:endParaRPr b="1" spc="-25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Maintain complete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sovereignty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by keeping all documents, embeddings, and inference processes local.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8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Provide a Scalable and Extensible System Design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the architecture to support future expansion to additional data formats and models.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51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10" dirty="0">
                <a:latin typeface="Cambria"/>
                <a:cs typeface="Cambria"/>
              </a:rPr>
              <a:t> Frontend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0" dirty="0">
                <a:latin typeface="Cambria"/>
                <a:cs typeface="Cambria"/>
              </a:rPr>
              <a:t>HTML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5" dirty="0">
                <a:latin typeface="Cambria"/>
                <a:cs typeface="Cambria"/>
              </a:rPr>
              <a:t>CSS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mbria"/>
                <a:cs typeface="Cambria"/>
              </a:rPr>
              <a:t>JavaScript</a:t>
            </a:r>
            <a:endParaRPr lang="en-US" sz="1700" spc="-1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Backend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Python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Flask</a:t>
            </a:r>
            <a:endParaRPr lang="en-US" sz="1700" spc="-2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AI/ML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Model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Natural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Language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Processing(NLP):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Python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4</a:t>
            </a:r>
            <a:r>
              <a:rPr sz="1700" b="1" spc="-10" dirty="0">
                <a:latin typeface="Cambria"/>
                <a:cs typeface="Cambria"/>
              </a:rPr>
              <a:t> Database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SQL 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5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Tools: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Tools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like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10" dirty="0">
                <a:latin typeface="Cambria"/>
                <a:cs typeface="Cambria"/>
              </a:rPr>
              <a:t>Git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Testing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Debugging: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Web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Browser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Chrome,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Firefox,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Edge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)</a:t>
            </a:r>
            <a:endParaRPr lang="en-US"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spc="-30" dirty="0">
                <a:latin typeface="Cambria"/>
                <a:cs typeface="Cambria"/>
              </a:rPr>
              <a:t>Python (with libraries and frameworks)</a:t>
            </a:r>
            <a:r>
              <a:rPr sz="1700" spc="-30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Processor: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modern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multi-</a:t>
            </a:r>
            <a:r>
              <a:rPr sz="1700" dirty="0">
                <a:latin typeface="Cambria"/>
                <a:cs typeface="Cambria"/>
              </a:rPr>
              <a:t>core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processor(</a:t>
            </a:r>
            <a:r>
              <a:rPr lang="sv-SE" sz="1700" dirty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>
                <a:latin typeface="Cambria"/>
                <a:cs typeface="Cambria"/>
              </a:rPr>
              <a:t>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RAM: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At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least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lang="en-US" sz="1700" spc="-25" dirty="0">
                <a:latin typeface="Cambria"/>
                <a:cs typeface="Cambria"/>
              </a:rPr>
              <a:t>8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spc="-35" dirty="0">
                <a:latin typeface="Cambria"/>
                <a:cs typeface="Cambria"/>
              </a:rPr>
              <a:t>GB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Storage: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lang="en-US" sz="1700" b="1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30</a:t>
            </a:r>
            <a:r>
              <a:rPr sz="1700" dirty="0">
                <a:latin typeface="Cambria"/>
                <a:cs typeface="Cambria"/>
              </a:rPr>
              <a:t>GB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recommended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Network: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Internet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Connection: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Stable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standard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speed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internet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connection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development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deployement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29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Additional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Hardware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(Optional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Deployment)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1653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Fully Offline Multimodal RAG Architecture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Unlike most RAG systems that rely on cloud-based APIs, this project delivers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completely offline Retrieval-    Augmented Generation framework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enabling secure operation in air-gapped and privacy-critical environments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Unified Semantic Retrieval Across Multiple Modalities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PDF), images, and voice recordings are transformed into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shared semantic embedding space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allowing seamless cross-modal retrieval using a single query interface.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End-to-End Multimodal Ingestion Pipeline</a:t>
            </a:r>
            <a:r>
              <a:rPr lang="en-IN" sz="1600" dirty="0"/>
              <a:t>:</a:t>
            </a: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system integrates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document parsing, OCR, and speech-to-text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into a single automated ingestion workflow, eliminating the need for separate tools for each data format.</a:t>
            </a:r>
          </a:p>
          <a:p>
            <a:pPr marL="12700">
              <a:lnSpc>
                <a:spcPct val="150000"/>
              </a:lnSpc>
              <a:spcBef>
                <a:spcPts val="1340"/>
              </a:spcBef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4.    Local LLM Integration for Context-Aware Generation</a:t>
            </a:r>
            <a:r>
              <a:rPr sz="16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:</a:t>
            </a:r>
            <a:endParaRPr lang="en-US" sz="16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 locally hosted LLM is tightly coupled with the retrieval engine to generate responses strictly grounded in retrieved evidence, minimizing hallucinations while preserving data privacy.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5306133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Offline Vector Indexing and Search Optimization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project implements an efficient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on-device vector indexing mechanism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optimized for low-latency semantic search without relying on external vector databases or internet connectivity.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6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Privacy-Preserving Knowledge Discovery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All data processing, embedding generation, storage, and inference occur locally, ensuring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complete data sovereignty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and compliance with strict security and regulatory requirements.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7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Modular System Design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be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model-agnostic and format-agnostic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allowing future integration of additional data modalities (e.g., video) or upgraded LLMs without major redesign.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spcBef>
                <a:spcPts val="1340"/>
              </a:spcBef>
              <a:buAutoNum type="arabicPeriod" startAt="8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Cross-Modal Query Capability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Users can issue natural language queries and retrieve relevant information regardless of the original data format, enabling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text-to-image, text-to-audio, and document-to-document semantic search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99926-7698-E310-FABA-57260172A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E3B74-774A-819F-F67C-8F194BF73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7A2BB-9CA4-4647-97FE-12415E812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05" y="1038299"/>
            <a:ext cx="10615295" cy="513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1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3726-D4CA-AF5A-5A90-FE3205927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A87C-914D-0682-A1A1-47BFB4A2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7748" y="1295400"/>
            <a:ext cx="10359390" cy="307777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Click Here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372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BC2F-119E-F4B1-CD9C-44F914A0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938D-563F-9673-220B-0D9DBCCF5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3ACFF-F363-FF57-FE2C-6EE8C982C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74888-2441-2394-1BD2-5EF2014F4C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05" y="1030607"/>
            <a:ext cx="10615295" cy="49891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671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838F-7956-8C13-2BC0-3798AED7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F0980-E34B-6230-FAFE-98DC27B67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30887"/>
          </a:xfrm>
        </p:spPr>
        <p:txBody>
          <a:bodyPr/>
          <a:lstStyle/>
          <a:p>
            <a:r>
              <a:rPr lang="en-IN" dirty="0"/>
              <a:t> Ingestion Pipeline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B3525F0-D65E-B314-9DA4-3608DC5922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882149"/>
            <a:ext cx="1135380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Multisource Data Ingestion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pipeline collects medical data from various formats such as PDF, DOCX, TXT, images, and audio through a dynamic file upload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Extraction with OCR &amp; ASR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OCR converts image-based medical content into text, and ASR converts audio into text, enabling multimodal data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Text Cleaning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Extracted text is cleaned by removing noise, duplicates, and formatting issues to improve accuracy for further 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Semantic Chunking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Cleaned text is split into smaller meaningful chunks to preserve context and improve efficient retrieval of relevant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Embedding Generation &amp; Storage (FAISS)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Each chunk is converted into vector embeddings using transformer models and stored in a FAISS vector database for fast similarity 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Storage for Traceability</a:t>
            </a:r>
            <a:b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Metadata like source, document reference, and chunk details are stored to ensure transparency, reliability, and traceability—critical for healthcare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62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1076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MT</vt:lpstr>
      <vt:lpstr>Cambria</vt:lpstr>
      <vt:lpstr>Verdana</vt:lpstr>
      <vt:lpstr>Office Theme</vt:lpstr>
      <vt:lpstr>CSE7302- University Project Review-2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Flow Diagram</vt:lpstr>
      <vt:lpstr>Literature Survey</vt:lpstr>
      <vt:lpstr> Ingestion Pipeline</vt:lpstr>
      <vt:lpstr> Ingestion Pipeline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Mohamed Aslam Pasha</cp:lastModifiedBy>
  <cp:revision>13</cp:revision>
  <dcterms:created xsi:type="dcterms:W3CDTF">2025-08-10T14:24:47Z</dcterms:created>
  <dcterms:modified xsi:type="dcterms:W3CDTF">2026-04-23T08:12:33Z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