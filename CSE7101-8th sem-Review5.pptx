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1" r:id="rId20"/>
    <p:sldId id="280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35314-A26B-4A4A-B1F4-E84E47A87561}" v="4" dt="2026-04-20T12:21:22.6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4" autoAdjust="0"/>
    <p:restoredTop sz="94660"/>
  </p:normalViewPr>
  <p:slideViewPr>
    <p:cSldViewPr>
      <p:cViewPr varScale="1">
        <p:scale>
          <a:sx n="87" d="100"/>
          <a:sy n="87" d="100"/>
        </p:scale>
        <p:origin x="28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70A5VUjR2AJNsuT8rj2ZRq6hJxGVsoM/edit?usp=sharing&amp;ouid=114184743348783537691&amp;rtpof=true&amp;sd=tru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lamaslam1842004/ISE-28-rural-med-nexus-an-offline-intelligent-medical-knowledge-syste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mbria"/>
                <a:cs typeface="Cambria"/>
              </a:rPr>
              <a:t>SIH25231</a:t>
            </a:r>
            <a:r>
              <a:rPr lang="en-US" sz="2400" b="1" spc="-55" dirty="0">
                <a:latin typeface="Cambria"/>
                <a:cs typeface="Cambria"/>
              </a:rPr>
              <a:t> -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RURALMED NEXUS: AN OFFLINE INTELLIGENT MEDICAL KNOWLEDGE SYSTEM</a:t>
            </a:r>
          </a:p>
          <a:p>
            <a:pPr marL="12700">
              <a:lnSpc>
                <a:spcPct val="100000"/>
              </a:lnSpc>
            </a:pP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spc="-25" dirty="0">
                <a:solidFill>
                  <a:srgbClr val="16365D"/>
                </a:solidFill>
                <a:latin typeface="Cambria"/>
                <a:cs typeface="Cambria"/>
              </a:rPr>
              <a:t>28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59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Mr. Santhosh Kumar K L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20221ISE0053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20221ISE0084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6365D"/>
                </a:solidFill>
                <a:latin typeface="Cambria"/>
                <a:cs typeface="Cambria"/>
              </a:rPr>
              <a:t>Name </a:t>
            </a:r>
            <a:r>
              <a:rPr sz="1800" b="1" dirty="0">
                <a:latin typeface="Cambria"/>
                <a:cs typeface="Cambria"/>
              </a:rPr>
              <a:t>Mohamed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Aslam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Pasha </a:t>
            </a:r>
            <a:r>
              <a:rPr sz="1800" b="1" dirty="0">
                <a:latin typeface="Cambria"/>
                <a:cs typeface="Cambria"/>
              </a:rPr>
              <a:t>Kovuri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Nizamuddin </a:t>
            </a:r>
            <a:r>
              <a:rPr sz="1800" b="1" dirty="0">
                <a:latin typeface="Cambria"/>
                <a:cs typeface="Cambria"/>
              </a:rPr>
              <a:t>Vaseem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M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Review-</a:t>
            </a:r>
            <a:r>
              <a:rPr lang="en-US" sz="1800" spc="-50" dirty="0"/>
              <a:t>5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 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6477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/>
              <a:t>Literature Survey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74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>
                <a:latin typeface="Cambria"/>
                <a:cs typeface="Cambria"/>
              </a:rPr>
              <a:t>Problem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Description:</a:t>
            </a:r>
            <a:r>
              <a:rPr sz="1800" b="1" spc="254" dirty="0">
                <a:latin typeface="Cambria"/>
                <a:cs typeface="Cambria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With the rapid growth of unstructured and multimodal data, organizations increasingly rely on documents, scanned images, and voice recordings to store critical information. However, existing information retrieval and question-answering systems are largely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text-centric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cloud-dependent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making them unsuitable for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offline, secure, or resource-constrained environments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such as defense systems, healthcare facilities, research labs, and remote locations.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Traditional search systems struggle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understand semantic meaning across multiple data formats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like DOC files, PDFs, images, and audio recordings. They often require separate processing pipelines for each modality and lack a unified framework for cross-modal retrieval. Moreover, most modern Large Language Model (LLM)–based solutions depend heavily on internet connectivity and external APIs, raising concerns related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 privacy, latency, regulatory compliance, and operational continuity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10511790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Develop an Offline-Capable RAG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Design a complete RAG pipeline that functions entirely in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eliminating dependency on cloud services or   external APIs.</a:t>
            </a:r>
            <a:endParaRPr spc="-10" dirty="0">
              <a:latin typeface="Cambria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2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Enable Multimodal Data Ingestion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robust ingestion mechanisms for multiple data formats including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images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audio recordings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3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Create a Unified Semantic Embedding Framework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 all modalities into a common vector embedding space using modality-specific encoders. </a:t>
            </a:r>
          </a:p>
          <a:p>
            <a:pPr marL="190500"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4.Design an Efficient Offline Indexing and Retrieval Mechanism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a local vector database or similarity search index to store multimodal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200000"/>
              </a:lnSpc>
              <a:spcBef>
                <a:spcPts val="95"/>
              </a:spcBef>
              <a:buAutoNum type="arabicPeriod" startAt="5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an Offline Large Language Model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 a lightweight or optimized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LLM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capable of understanding retrieved context and generating meaningful responses.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6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Support Context-Aware Question Answering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48895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users to query the system using natural language and receive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contextually accurate, explainable responses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grounded in retrieved documents.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7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Ensure Data Privacy and Security</a:t>
            </a:r>
            <a:endParaRPr b="1" spc="-25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Maintain complete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sovereignty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by keeping all documents, embeddings, and inference processes local.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8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Provide a Scalable and Extensible System Design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the architecture to support future expansion to additional data formats and models.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51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10" dirty="0">
                <a:latin typeface="Cambria"/>
                <a:cs typeface="Cambria"/>
              </a:rPr>
              <a:t> Frontend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0" dirty="0">
                <a:latin typeface="Cambria"/>
                <a:cs typeface="Cambria"/>
              </a:rPr>
              <a:t>HTML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5" dirty="0">
                <a:latin typeface="Cambria"/>
                <a:cs typeface="Cambria"/>
              </a:rPr>
              <a:t>CSS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mbria"/>
                <a:cs typeface="Cambria"/>
              </a:rPr>
              <a:t>JavaScript</a:t>
            </a:r>
            <a:endParaRPr lang="en-US" sz="1700" spc="-1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Backend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Python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Flask</a:t>
            </a:r>
            <a:endParaRPr lang="en-US" sz="1700" spc="-2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AI/ML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Model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Natural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Language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Processing(NLP):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Python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4</a:t>
            </a:r>
            <a:r>
              <a:rPr sz="1700" b="1" spc="-10" dirty="0">
                <a:latin typeface="Cambria"/>
                <a:cs typeface="Cambria"/>
              </a:rPr>
              <a:t> Database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SQL 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5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Tools: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Tools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like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10" dirty="0">
                <a:latin typeface="Cambria"/>
                <a:cs typeface="Cambria"/>
              </a:rPr>
              <a:t>Git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Testing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Debugging: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Web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Browser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Chrome,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Firefox,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Edge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)</a:t>
            </a:r>
            <a:endParaRPr lang="en-US"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spc="-30" dirty="0">
                <a:latin typeface="Cambria"/>
                <a:cs typeface="Cambria"/>
              </a:rPr>
              <a:t>Python (with libraries and frameworks)</a:t>
            </a:r>
            <a:r>
              <a:rPr sz="1700" spc="-30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Processor: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modern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multi-</a:t>
            </a:r>
            <a:r>
              <a:rPr sz="1700" dirty="0">
                <a:latin typeface="Cambria"/>
                <a:cs typeface="Cambria"/>
              </a:rPr>
              <a:t>core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processor(</a:t>
            </a:r>
            <a:r>
              <a:rPr lang="sv-SE" sz="1700" dirty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>
                <a:latin typeface="Cambria"/>
                <a:cs typeface="Cambria"/>
              </a:rPr>
              <a:t>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RAM: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At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least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lang="en-US" sz="1700" spc="-25" dirty="0">
                <a:latin typeface="Cambria"/>
                <a:cs typeface="Cambria"/>
              </a:rPr>
              <a:t>8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spc="-35" dirty="0">
                <a:latin typeface="Cambria"/>
                <a:cs typeface="Cambria"/>
              </a:rPr>
              <a:t>GB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Storage: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lang="en-US" sz="1700" b="1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30</a:t>
            </a:r>
            <a:r>
              <a:rPr sz="1700" dirty="0">
                <a:latin typeface="Cambria"/>
                <a:cs typeface="Cambria"/>
              </a:rPr>
              <a:t>GB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recommended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Network: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Internet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Connection: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Stable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standard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speed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internet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connection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development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deployement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29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Additional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Hardware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(Optional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Deployment)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1653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Fully Offline Multimodal RAG Architecture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Unlike most RAG systems that rely on cloud-based APIs, this project delivers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completely offline Retrieval-    Augmented Generation framework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enabling secure operation in air-gapped and privacy-critical environments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Unified Semantic Retrieval Across Multiple Modalities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PDF), images, and voice recordings are transformed into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shared semantic embedding space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allowing seamless cross-modal retrieval using a single query interface.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End-to-End Multimodal Ingestion Pipeline</a:t>
            </a:r>
            <a:r>
              <a:rPr lang="en-IN" sz="1600" dirty="0"/>
              <a:t>:</a:t>
            </a: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system integrates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document parsing, OCR, and speech-to-text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into a single automated ingestion workflow, eliminating the need for separate tools for each data format.</a:t>
            </a:r>
          </a:p>
          <a:p>
            <a:pPr marL="12700">
              <a:lnSpc>
                <a:spcPct val="150000"/>
              </a:lnSpc>
              <a:spcBef>
                <a:spcPts val="1340"/>
              </a:spcBef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4.    Local LLM Integration for Context-Aware Generation</a:t>
            </a:r>
            <a:r>
              <a:rPr sz="16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:</a:t>
            </a:r>
            <a:endParaRPr lang="en-US" sz="16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 locally hosted LLM is tightly coupled with the retrieval engine to generate responses strictly grounded in retrieved evidence, minimizing hallucinations while preserving data privacy.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5306133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Offline Vector Indexing and Search Optimization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project implements an efficient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on-device vector indexing mechanism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optimized for low-latency semantic search without relying on external vector databases or internet connectivity.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6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Privacy-Preserving Knowledge Discovery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All data processing, embedding generation, storage, and inference occur locally, ensuring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complete data sovereignty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and compliance with strict security and regulatory requirements.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7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Modular System Design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be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model-agnostic and format-agnostic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allowing future integration of additional data modalities (e.g., video) or upgraded LLMs without major redesign.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spcBef>
                <a:spcPts val="1340"/>
              </a:spcBef>
              <a:buAutoNum type="arabicPeriod" startAt="8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Cross-Modal Query Capability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Users can issue natural language queries and retrieve relevant information regardless of the original data format, enabling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text-to-image, text-to-audio, and document-to-document semantic search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E3B74-774A-819F-F67C-8F194BF7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7A2BB-9CA4-4647-97FE-12415E81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38299"/>
            <a:ext cx="10615295" cy="513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A87C-914D-0682-A1A1-47BFB4A2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748" y="1295400"/>
            <a:ext cx="10359390" cy="307777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Click 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C2F-119E-F4B1-CD9C-44F914A0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938D-563F-9673-220B-0D9DBCCF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3ACFF-F363-FF57-FE2C-6EE8C982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74888-2441-2394-1BD2-5EF2014F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05" y="1030607"/>
            <a:ext cx="10615295" cy="4989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71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838F-7956-8C13-2BC0-3798AED7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0980-E34B-6230-FAFE-98DC27B6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B3525F0-D65E-B314-9DA4-3608DC592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82149"/>
            <a:ext cx="1135380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Multisource Data Ingestion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pipeline collects medical data from various formats such as PDF, DOCX, TXT, images, and audio through a dynamic file upload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Extraction with OCR &amp; ASR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OCR converts image-based medical content into text, and ASR converts audio into text, enabling multimodal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Cleaning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Extracted text is cleaned by removing noise, duplicates, and formatting issues to improve accuracy for further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Semantic Chunking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Cleaned text is split into smaller meaningful chunks to preserve context and improve efficient retrieval of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Embedding Generation &amp; Storage (FAISS)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chunk is converted into vector embeddings using transformer models and stored in a FAISS vector database for fast similarity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Storage for Traceability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like source, document reference, and chunk details are stored to ensure transparency, reliability, and traceability—critical for healthcare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62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A4EA-E05F-5D51-4AFB-14D62A4A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A5B7-E01B-E4B6-6D0B-FF421995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Query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879D6-CF8F-F809-34A9-3AD48C543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20800-575C-7897-9932-8949B32E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70927"/>
            <a:ext cx="10691495" cy="48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9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2C78-912B-9BA7-436C-8CD485B5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FE3A-F283-0685-97A9-436AE6C8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Query Pipeline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EB25952-4C0B-D0BA-C547-5A236E40E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086" y="914400"/>
            <a:ext cx="113538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 Query Input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process begins when a user submits a medical question through the system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Query Embedding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input query is converted into an embedding using the same model used during data ingestion.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Similarity Search in FAISS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query embedding is compared with stored embeddings in the FAISS vector database to find related medical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Top-K Relevant Context Retrieval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system retrieves the most relevant document chunks (Top-K) based on semantic similarity to the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Retrieval for Traceability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Source information and document references are identified to ensure transparency and reliability of retrieved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Response Generation using Local Language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local model uses the retrieved context and metadata to generate an accurate, offline AI-based medical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1BB1-97C6-3C33-2B07-EAA6A843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34C1-5B1E-3E0B-E054-28455BB5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Enhancement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9447B-6141-BB74-A58B-2CCA33BE2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DE62C-DD02-EDF6-56F7-AC4A163A2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06" y="1030606"/>
            <a:ext cx="10691494" cy="49206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69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0B2E-3C94-016A-F18E-E246D5B3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BF39-9A8B-CAFE-DCF3-8CCF2A02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Enhancement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60856B-3ED3-D877-DBDE-643B8D539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914837"/>
            <a:ext cx="1122521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Query Interface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system provides a simple interface with predefined medical questions, making it easy for users without technical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Dropdown-Based Selection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Users can select categories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symptoms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which then display related diseases (e.g., fever, seasonal illnesses).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Guided Navigation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design helps users quickly find relevant questions, improving usability—especially for rural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Context-Based Response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Responses are generated based on the existing medical knowledge base, ensuring relevance and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Embedding &amp; FAISS Retrieval Process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Selected queries are processed through embedding generation and matched with the FAISS vector database to retrieve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Improved Accessibility &amp; Accuracy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approach reduces input errors and provides timely, accurate answers, enhancing accessibility for rural healthcare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46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A97F9-B8D7-8C1B-26C1-F0849C00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5B57-DEE6-25A0-858B-D05F81BF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B6F4F-D55C-D244-85E0-3B55CEB5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1105" y="1169667"/>
            <a:ext cx="10359390" cy="46577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5072E-97E7-C948-1C20-444C432F4D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4" t="7954" r="14427" b="6734"/>
          <a:stretch>
            <a:fillRect/>
          </a:stretch>
        </p:blipFill>
        <p:spPr bwMode="auto">
          <a:xfrm>
            <a:off x="890905" y="1115058"/>
            <a:ext cx="5357495" cy="47669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CD42E-C4ED-8699-13B3-1A612A374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115058"/>
            <a:ext cx="5715000" cy="4766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9485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B133-C260-AA71-C1A6-8F1BFFC8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BF80-89C1-0B00-465C-ADDB403C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5C698-64D7-BCC3-4975-1683B21E6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305" y="1219200"/>
            <a:ext cx="10359390" cy="984885"/>
          </a:xfrm>
        </p:spPr>
        <p:txBody>
          <a:bodyPr/>
          <a:lstStyle/>
          <a:p>
            <a:r>
              <a:rPr lang="en-US" dirty="0"/>
              <a:t>GITHUB :</a:t>
            </a:r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https://github.com/aslamaslam1842004/ISE-28-rural-med-nexus-an-offline-intelligent-medical-knowledge-system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44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D81A-9253-6FEC-A87B-1347FA2F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787690A-2F80-2B98-02D9-B139B6C8D7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3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1372</Words>
  <Application>Microsoft Office PowerPoint</Application>
  <PresentationFormat>Widescreen</PresentationFormat>
  <Paragraphs>136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MT</vt:lpstr>
      <vt:lpstr>Cambria</vt:lpstr>
      <vt:lpstr>Verdana</vt:lpstr>
      <vt:lpstr>Office Theme</vt:lpstr>
      <vt:lpstr>CSE7302- University Project Review-5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Literature Survey</vt:lpstr>
      <vt:lpstr> Ingestion Pipeline</vt:lpstr>
      <vt:lpstr> Ingestion Pipeline</vt:lpstr>
      <vt:lpstr> Query Pipeline</vt:lpstr>
      <vt:lpstr> Query Pipeline</vt:lpstr>
      <vt:lpstr> Enhancement</vt:lpstr>
      <vt:lpstr> Enhancement</vt:lpstr>
      <vt:lpstr>Results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Mohamed Aslam Pasha</cp:lastModifiedBy>
  <cp:revision>16</cp:revision>
  <dcterms:created xsi:type="dcterms:W3CDTF">2025-08-10T14:24:47Z</dcterms:created>
  <dcterms:modified xsi:type="dcterms:W3CDTF">2026-04-23T08:17:44Z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