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3" r:id="rId13"/>
    <p:sldId id="274" r:id="rId14"/>
    <p:sldId id="275" r:id="rId15"/>
    <p:sldId id="276" r:id="rId16"/>
    <p:sldId id="270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0B0E5-2969-4481-A8B7-0F9ABFE3ADCB}" v="3" dt="2026-04-20T12:11:23.1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30:25.310" v="108" actId="2696"/>
      <pc:docMkLst>
        <pc:docMk/>
      </pc:docMkLst>
      <pc:sldChg chg="addSp delSp modSp add del mod ord">
        <pc:chgData name="kovuri nizam" userId="a610bd2f6c0a5cf4" providerId="LiveId" clId="{AD7561CC-E29F-482C-8B2D-63DF8561265E}" dt="2026-04-20T12:30:19.682" v="107" actId="2696"/>
        <pc:sldMkLst>
          <pc:docMk/>
          <pc:sldMk cId="196692684" sldId="277"/>
        </pc:sldMkLst>
        <pc:spChg chg="mod">
          <ac:chgData name="kovuri nizam" userId="a610bd2f6c0a5cf4" providerId="LiveId" clId="{AD7561CC-E29F-482C-8B2D-63DF8561265E}" dt="2026-04-20T12:27:59.763" v="81" actId="20577"/>
          <ac:spMkLst>
            <pc:docMk/>
            <pc:sldMk cId="196692684" sldId="277"/>
            <ac:spMk id="2" creationId="{18BE34C1-5B1E-3E0B-E054-28455BB5CD82}"/>
          </ac:spMkLst>
        </pc:spChg>
        <pc:picChg chg="add mod">
          <ac:chgData name="kovuri nizam" userId="a610bd2f6c0a5cf4" providerId="LiveId" clId="{AD7561CC-E29F-482C-8B2D-63DF8561265E}" dt="2026-04-20T12:10:01.171" v="7" actId="14100"/>
          <ac:picMkLst>
            <pc:docMk/>
            <pc:sldMk cId="196692684" sldId="277"/>
            <ac:picMk id="4" creationId="{4AADE62C-DD02-EDF6-56F7-AC4A163A244C}"/>
          </ac:picMkLst>
        </pc:picChg>
        <pc:picChg chg="del">
          <ac:chgData name="kovuri nizam" userId="a610bd2f6c0a5cf4" providerId="LiveId" clId="{AD7561CC-E29F-482C-8B2D-63DF8561265E}" dt="2026-04-20T12:09:38.415" v="3" actId="478"/>
          <ac:picMkLst>
            <pc:docMk/>
            <pc:sldMk cId="196692684" sldId="277"/>
            <ac:picMk id="6" creationId="{310BC017-2376-412C-5B69-066B9ECD530D}"/>
          </ac:picMkLst>
        </pc:picChg>
      </pc:sldChg>
      <pc:sldChg chg="addSp delSp modSp add del mod ord">
        <pc:chgData name="kovuri nizam" userId="a610bd2f6c0a5cf4" providerId="LiveId" clId="{AD7561CC-E29F-482C-8B2D-63DF8561265E}" dt="2026-04-20T12:30:25.310" v="108" actId="2696"/>
        <pc:sldMkLst>
          <pc:docMk/>
          <pc:sldMk cId="2307046462" sldId="278"/>
        </pc:sldMkLst>
        <pc:spChg chg="mod">
          <ac:chgData name="kovuri nizam" userId="a610bd2f6c0a5cf4" providerId="LiveId" clId="{AD7561CC-E29F-482C-8B2D-63DF8561265E}" dt="2026-04-20T12:28:22.317" v="106" actId="20577"/>
          <ac:spMkLst>
            <pc:docMk/>
            <pc:sldMk cId="2307046462" sldId="278"/>
            <ac:spMk id="2" creationId="{7B3ABF39-9A8B-CAFE-DCF3-8CCF2A02C236}"/>
          </ac:spMkLst>
        </pc:spChg>
        <pc:spChg chg="add mod">
          <ac:chgData name="kovuri nizam" userId="a610bd2f6c0a5cf4" providerId="LiveId" clId="{AD7561CC-E29F-482C-8B2D-63DF8561265E}" dt="2026-04-20T12:11:31.069" v="54" actId="2711"/>
          <ac:spMkLst>
            <pc:docMk/>
            <pc:sldMk cId="2307046462" sldId="278"/>
            <ac:spMk id="3" creationId="{BF60856B-3ED3-D877-DBDE-643B8D5390EF}"/>
          </ac:spMkLst>
        </pc:spChg>
        <pc:spChg chg="del mod">
          <ac:chgData name="kovuri nizam" userId="a610bd2f6c0a5cf4" providerId="LiveId" clId="{AD7561CC-E29F-482C-8B2D-63DF8561265E}" dt="2026-04-20T12:11:07.726" v="12"/>
          <ac:spMkLst>
            <pc:docMk/>
            <pc:sldMk cId="2307046462" sldId="278"/>
            <ac:spMk id="8" creationId="{421739A7-4FE1-9F41-F745-EA24081D21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70A5VUjR2AJNsuT8rj2ZRq6hJxGVsoM/edit?usp=sharing&amp;ouid=114184743348783537691&amp;rtpof=true&amp;sd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SIH25231</a:t>
            </a:r>
            <a:r>
              <a:rPr lang="en-US" sz="2400" b="1" spc="-55" dirty="0">
                <a:latin typeface="Cambria"/>
                <a:cs typeface="Cambria"/>
              </a:rPr>
              <a:t> -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RURALMED NEXUS: AN OFFLINE INTELLIGENT MEDICAL KNOWLEDGE SYSTEM</a:t>
            </a:r>
          </a:p>
          <a:p>
            <a:pPr marL="12700">
              <a:lnSpc>
                <a:spcPct val="100000"/>
              </a:lnSpc>
            </a:pP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28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Mr. Santhosh Kumar K L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lang="en-US" sz="1800" spc="-50" dirty="0"/>
              <a:t>3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lang="en-US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6477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/>
              <a:t>Literature Survey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7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unstructured and multimodal data, organizations increasingly rely on documents, scanned images, and voice recordings to store critical information. However, existing information retrieval and question-answering systems are largely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text-centric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cloud-dependent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making them unsuitable for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offline, secure, or resource-constrained environments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such as defense systems, healthcare facilities, research labs, and remote locations.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search systems struggle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 semantic meaning across multiple data formats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like DOC files, PDFs, images, and audio recordings. They often require separate processing pipelines for each modality and lack a unified framework for cross-modal retrieval. Moreover, most modern Large Language Model (LLM)–based solutions depend heavily on internet connectivity and external APIs, raising concerns related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privacy, latency, regulatory compliance, and operational continuity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Develop an Offline-Capable RAG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Design a complete RAG pipeline that functions entirely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eliminating dependency on cloud services or   external APIs.</a:t>
            </a:r>
            <a:endParaRPr spc="-10" dirty="0">
              <a:latin typeface="Cambria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Enable Multimodal Data Ingestion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robust ingestion mechanisms for multiple data formats including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images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audio recordings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Create a Unified Semantic Embedding Framework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 all modalities into a common vector embedding space using modality-specific encoders. </a:t>
            </a:r>
          </a:p>
          <a:p>
            <a:pPr marL="190500"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4.Design an Efficient Offline Indexing and Retrieval Mechanism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 local vector database or similarity search index to store multimodal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2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an Offline Large Language Model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a lightweight or optimized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LLM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capable of understanding retrieved context and generating meaningful responses.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6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Support Context-Aware Question Answering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48895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users to query the system using natural language and receive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contextually accurate, explainable responses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grounded in retrieved documents.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7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Ensure Data Privacy and Security</a:t>
            </a:r>
            <a:endParaRPr b="1" spc="-2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Maintain complete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sovereignty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by keeping all documents, embeddings, and inference processes local.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8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 a Scalable and Extensible System Design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the architecture to support future expansion to additional data formats and models.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0" dirty="0">
                <a:latin typeface="Cambria"/>
                <a:cs typeface="Cambria"/>
              </a:rPr>
              <a:t>HTML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5" dirty="0">
                <a:latin typeface="Cambria"/>
                <a:cs typeface="Cambria"/>
              </a:rPr>
              <a:t>CSS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mbria"/>
                <a:cs typeface="Cambria"/>
              </a:rPr>
              <a:t>JavaScript</a:t>
            </a:r>
            <a:endParaRPr lang="en-US" sz="1700" spc="-1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Python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Flask</a:t>
            </a:r>
            <a:endParaRPr lang="en-US" sz="1700" spc="-2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AI/ML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Model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Natural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Language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Processing(NLP):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Python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4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SQL 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5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Tools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like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10" dirty="0">
                <a:latin typeface="Cambria"/>
                <a:cs typeface="Cambria"/>
              </a:rPr>
              <a:t>Git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Testing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Debugging: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Web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Browser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Chrome,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Firefox,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Edge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)</a:t>
            </a:r>
            <a:endParaRPr lang="en-US"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spc="-30" dirty="0">
                <a:latin typeface="Cambria"/>
                <a:cs typeface="Cambria"/>
              </a:rPr>
              <a:t>Python (with libraries and frameworks)</a:t>
            </a:r>
            <a:r>
              <a:rPr sz="1700" spc="-3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Processor: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modern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multi-</a:t>
            </a:r>
            <a:r>
              <a:rPr sz="1700" dirty="0">
                <a:latin typeface="Cambria"/>
                <a:cs typeface="Cambria"/>
              </a:rPr>
              <a:t>core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processor(</a:t>
            </a:r>
            <a:r>
              <a:rPr lang="sv-SE" sz="1700" dirty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>
                <a:latin typeface="Cambria"/>
                <a:cs typeface="Cambria"/>
              </a:rPr>
              <a:t>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RAM: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least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lang="en-US" sz="1700" spc="-25" dirty="0">
                <a:latin typeface="Cambria"/>
                <a:cs typeface="Cambria"/>
              </a:rPr>
              <a:t>8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GB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Storage: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lang="en-US" sz="1700" b="1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30</a:t>
            </a:r>
            <a:r>
              <a:rPr sz="1700" dirty="0">
                <a:latin typeface="Cambria"/>
                <a:cs typeface="Cambria"/>
              </a:rPr>
              <a:t>GB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recommended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Network: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Internet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Connection: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Stable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standard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internet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connection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development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deployement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Additional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Hardware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(Optional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Deployment)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1653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Fully Offline Multimodal RAG Architecture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Unlike most RAG systems that rely on cloud-based APIs, this project delivers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completely offline Retrieval-    Augmented Generation framework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enabling secure operation in air-gapped and privacy-critical environments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Semantic Retrieval Across Multiple Modalities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PDF), images, and voice recordings are transformed into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shared semantic embedding space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allowing seamless cross-modal retrieval using a single query interface.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End-to-End Multimodal Ingestion Pipeline</a:t>
            </a:r>
            <a:r>
              <a:rPr lang="en-IN" sz="1600" dirty="0"/>
              <a:t>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system integrates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document parsing, OCR, and speech-to-text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into a single automated ingestion workflow, eliminating the need for separate tools for each data format.</a:t>
            </a: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4.    Local LLM Integration for Context-Aware Generation</a:t>
            </a:r>
            <a:r>
              <a:rPr sz="16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:</a:t>
            </a:r>
            <a:endParaRPr lang="en-US" sz="16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 locally hosted LLM is tightly coupled with the retrieval engine to generate responses strictly grounded in retrieved evidence, minimizing hallucinations while preserving data privacy.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5306133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Offline Vector Indexing and Search Optimization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project implements an efficient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on-device vector indexing mechanism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optimized for low-latency semantic search without relying on external vector databases or internet connectivity.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Privacy-Preserving Knowledge Discovery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processing, embedding generation, storage, and inference occur locally, ensuring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complete data sovereignty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and compliance with strict security and regulatory requirements.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Modular System Design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be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model-agnostic and format-agnostic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allowing future integration of additional data modalities (e.g., video) or upgraded LLMs without major redesign.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Cross-Modal Query Capability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Users can issue natural language queries and retrieve relevant information regardless of the original data format, enabling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text-to-image, text-to-audio, and document-to-document semantic search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E3B74-774A-819F-F67C-8F194BF7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7A2BB-9CA4-4647-97FE-12415E81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38299"/>
            <a:ext cx="10615295" cy="51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A87C-914D-0682-A1A1-47BFB4A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748" y="1295400"/>
            <a:ext cx="10359390" cy="307777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Click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C2F-119E-F4B1-CD9C-44F914A0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938D-563F-9673-220B-0D9DBCCF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ACFF-F363-FF57-FE2C-6EE8C982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74888-2441-2394-1BD2-5EF2014F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5" y="1030607"/>
            <a:ext cx="10615295" cy="4989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71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838F-7956-8C13-2BC0-3798AED7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0980-E34B-6230-FAFE-98DC27B6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3525F0-D65E-B314-9DA4-3608DC592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2149"/>
            <a:ext cx="113538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Multisource Data Ingestion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pipeline collects medical data from various formats such as PDF, DOCX, TXT, images, and audio through a dynamic file upload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Extraction with OCR &amp; ASR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 converts image-based medical content into text, and ASR converts audio into text, enabling multimodal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Cleaning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Extracted text is cleaned by removing noise, duplicates, and formatting issues to improve accuracy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Semantic Chunking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Cleaned text is split into smaller meaningful chunks to preserve context and improve efficient retrieval of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Generation &amp; Storage (FAISS)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chunk is converted into vector embeddings using transformer models and stored in a FAISS vector database for fast similarity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Storage for Traceability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like source, document reference, and chunk details are stored to ensure transparency, reliability, and traceability—critical for healthcare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2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A4EA-E05F-5D51-4AFB-14D62A4A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A5B7-E01B-E4B6-6D0B-FF421995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879D6-CF8F-F809-34A9-3AD48C543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20800-575C-7897-9932-8949B32E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70927"/>
            <a:ext cx="10691495" cy="48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9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2C78-912B-9BA7-436C-8CD485B5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FE3A-F283-0685-97A9-436AE6C8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B25952-4C0B-D0BA-C547-5A236E40E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086" y="914400"/>
            <a:ext cx="11353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 Query Input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process begins when a user submits a medical question through the system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Query Embedding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input query is converted into an embedding using the same model used during data ingestion.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Similarity Search in FAISS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query embedding is compared with stored embeddings in the FAISS vector database to find related medical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Top-K Relevant Context Retrieval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retrieves the most relevant document chunks (Top-K) based on semantic similarity to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Retrieval for Traceability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Source information and document references are identified to ensure transparency and reliability of retrieved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Response Generation using Local Language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local model uses the retrieved context and metadata to generate an accurate, offline AI-based medical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1217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Cambria</vt:lpstr>
      <vt:lpstr>Verdana</vt:lpstr>
      <vt:lpstr>Office Theme</vt:lpstr>
      <vt:lpstr>CSE7302- University Project Review-3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Literature Survey</vt:lpstr>
      <vt:lpstr> Ingestion Pipeline</vt:lpstr>
      <vt:lpstr> Ingestion Pipeline</vt:lpstr>
      <vt:lpstr> Query Pipeline</vt:lpstr>
      <vt:lpstr> Query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Mohamed Aslam Pasha</cp:lastModifiedBy>
  <cp:revision>13</cp:revision>
  <dcterms:created xsi:type="dcterms:W3CDTF">2025-08-10T14:24:47Z</dcterms:created>
  <dcterms:modified xsi:type="dcterms:W3CDTF">2026-04-23T08:14:22Z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