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70" r:id="rId11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8" d="100"/>
          <a:sy n="48" d="100"/>
        </p:scale>
        <p:origin x="53" y="90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16365D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16365D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16365D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16365D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12800" y="885824"/>
            <a:ext cx="10668000" cy="57150"/>
          </a:xfrm>
          <a:custGeom>
            <a:avLst/>
            <a:gdLst/>
            <a:ahLst/>
            <a:cxnLst/>
            <a:rect l="l" t="t" r="r" b="b"/>
            <a:pathLst>
              <a:path w="10668000" h="57150">
                <a:moveTo>
                  <a:pt x="10668000" y="45720"/>
                </a:moveTo>
                <a:lnTo>
                  <a:pt x="0" y="45720"/>
                </a:lnTo>
                <a:lnTo>
                  <a:pt x="0" y="57150"/>
                </a:lnTo>
                <a:lnTo>
                  <a:pt x="10668000" y="57150"/>
                </a:lnTo>
                <a:lnTo>
                  <a:pt x="10668000" y="45720"/>
                </a:lnTo>
                <a:close/>
              </a:path>
              <a:path w="10668000" h="57150">
                <a:moveTo>
                  <a:pt x="10668000" y="0"/>
                </a:moveTo>
                <a:lnTo>
                  <a:pt x="0" y="0"/>
                </a:lnTo>
                <a:lnTo>
                  <a:pt x="0" y="34290"/>
                </a:lnTo>
                <a:lnTo>
                  <a:pt x="10668000" y="34290"/>
                </a:lnTo>
                <a:lnTo>
                  <a:pt x="10668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5990844"/>
            <a:ext cx="12192000" cy="86715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90905" y="280987"/>
            <a:ext cx="8478520" cy="4800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16365D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43305" y="1169669"/>
            <a:ext cx="10359390" cy="46577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68578" y="1344688"/>
            <a:ext cx="8544560" cy="167481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75130" algn="ctr">
              <a:lnSpc>
                <a:spcPct val="100000"/>
              </a:lnSpc>
              <a:spcBef>
                <a:spcPts val="100"/>
              </a:spcBef>
            </a:pPr>
            <a:r>
              <a:rPr lang="en-US" sz="2400" b="1" spc="-20" dirty="0">
                <a:latin typeface="Cambria"/>
                <a:cs typeface="Cambria"/>
              </a:rPr>
              <a:t>SIH25231</a:t>
            </a:r>
            <a:r>
              <a:rPr sz="2400" b="1" spc="-55" dirty="0">
                <a:latin typeface="Cambria"/>
                <a:cs typeface="Cambria"/>
              </a:rPr>
              <a:t> </a:t>
            </a:r>
            <a:r>
              <a:rPr lang="en-US" sz="2400" b="1" spc="-55" dirty="0">
                <a:latin typeface="Cambria"/>
                <a:cs typeface="Cambria"/>
              </a:rPr>
              <a:t>- 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RURALMED NEXUS: AN OFFLINE INTELLIGENT MEDICAL KNOWLEDGE SYSTEM</a:t>
            </a:r>
          </a:p>
          <a:p>
            <a:pPr algn="ctr">
              <a:lnSpc>
                <a:spcPct val="100000"/>
              </a:lnSpc>
              <a:spcBef>
                <a:spcPts val="15"/>
              </a:spcBef>
            </a:pPr>
            <a:endParaRPr sz="24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solidFill>
                  <a:srgbClr val="16365D"/>
                </a:solidFill>
                <a:latin typeface="Cambria"/>
                <a:cs typeface="Cambria"/>
              </a:rPr>
              <a:t>Batch</a:t>
            </a:r>
            <a:r>
              <a:rPr sz="1800" b="1" spc="-40" dirty="0">
                <a:solidFill>
                  <a:srgbClr val="16365D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16365D"/>
                </a:solidFill>
                <a:latin typeface="Cambria"/>
                <a:cs typeface="Cambria"/>
              </a:rPr>
              <a:t>Number:</a:t>
            </a:r>
            <a:r>
              <a:rPr sz="1800" b="1" spc="-30" dirty="0">
                <a:solidFill>
                  <a:srgbClr val="16365D"/>
                </a:solidFill>
                <a:latin typeface="Cambria"/>
                <a:cs typeface="Cambria"/>
              </a:rPr>
              <a:t> </a:t>
            </a:r>
            <a:r>
              <a:rPr sz="1800" b="1" u="sng" dirty="0">
                <a:solidFill>
                  <a:srgbClr val="16365D"/>
                </a:solidFill>
                <a:latin typeface="Cambria"/>
                <a:cs typeface="Cambria"/>
              </a:rPr>
              <a:t>ISE</a:t>
            </a:r>
            <a:r>
              <a:rPr sz="1800" b="1" u="sng" spc="-35" dirty="0">
                <a:solidFill>
                  <a:srgbClr val="16365D"/>
                </a:solidFill>
                <a:latin typeface="Cambria"/>
                <a:cs typeface="Cambria"/>
              </a:rPr>
              <a:t> </a:t>
            </a:r>
            <a:r>
              <a:rPr lang="en-US" sz="1800" b="1" u="sng" spc="-25" dirty="0">
                <a:solidFill>
                  <a:srgbClr val="16365D"/>
                </a:solidFill>
                <a:latin typeface="Cambria"/>
                <a:cs typeface="Cambria"/>
              </a:rPr>
              <a:t>28</a:t>
            </a:r>
            <a:endParaRPr lang="en-US" b="1" u="sng" spc="-25" dirty="0">
              <a:solidFill>
                <a:srgbClr val="16365D"/>
              </a:solidFill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endParaRPr sz="1800" dirty="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58280" y="2703195"/>
            <a:ext cx="4676140" cy="15985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995805">
              <a:lnSpc>
                <a:spcPct val="115700"/>
              </a:lnSpc>
              <a:spcBef>
                <a:spcPts val="100"/>
              </a:spcBef>
            </a:pPr>
            <a:r>
              <a:rPr sz="1800" b="1" dirty="0">
                <a:solidFill>
                  <a:srgbClr val="16365D"/>
                </a:solidFill>
                <a:latin typeface="Cambria"/>
                <a:cs typeface="Cambria"/>
              </a:rPr>
              <a:t>Under</a:t>
            </a:r>
            <a:r>
              <a:rPr sz="1800" b="1" spc="-55" dirty="0">
                <a:solidFill>
                  <a:srgbClr val="16365D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16365D"/>
                </a:solidFill>
                <a:latin typeface="Cambria"/>
                <a:cs typeface="Cambria"/>
              </a:rPr>
              <a:t>the</a:t>
            </a:r>
            <a:r>
              <a:rPr sz="1800" b="1" spc="-50" dirty="0">
                <a:solidFill>
                  <a:srgbClr val="16365D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16365D"/>
                </a:solidFill>
                <a:latin typeface="Cambria"/>
                <a:cs typeface="Cambria"/>
              </a:rPr>
              <a:t>Supervision</a:t>
            </a:r>
            <a:r>
              <a:rPr sz="1800" b="1" spc="-55" dirty="0">
                <a:solidFill>
                  <a:srgbClr val="16365D"/>
                </a:solidFill>
                <a:latin typeface="Cambria"/>
                <a:cs typeface="Cambria"/>
              </a:rPr>
              <a:t> </a:t>
            </a:r>
            <a:r>
              <a:rPr sz="1800" b="1" spc="-25" dirty="0">
                <a:solidFill>
                  <a:srgbClr val="16365D"/>
                </a:solidFill>
                <a:latin typeface="Cambria"/>
                <a:cs typeface="Cambria"/>
              </a:rPr>
              <a:t>of, </a:t>
            </a:r>
            <a:endParaRPr lang="en-US" b="1" spc="-25" dirty="0">
              <a:solidFill>
                <a:srgbClr val="16365D"/>
              </a:solidFill>
              <a:latin typeface="Cambria"/>
              <a:cs typeface="Cambria"/>
            </a:endParaRPr>
          </a:p>
          <a:p>
            <a:pPr marL="12700" marR="1995805">
              <a:lnSpc>
                <a:spcPct val="115700"/>
              </a:lnSpc>
              <a:spcBef>
                <a:spcPts val="100"/>
              </a:spcBef>
            </a:pPr>
            <a:r>
              <a:rPr lang="en-IN" sz="1800" b="1" spc="-25" dirty="0">
                <a:solidFill>
                  <a:srgbClr val="16365D"/>
                </a:solidFill>
                <a:latin typeface="Cambria"/>
                <a:cs typeface="Cambria"/>
              </a:rPr>
              <a:t>Mr. Santhosh Kumar K L</a:t>
            </a:r>
            <a:endParaRPr sz="18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1800" b="1" dirty="0">
                <a:latin typeface="Cambria"/>
                <a:cs typeface="Cambria"/>
              </a:rPr>
              <a:t>Assistant</a:t>
            </a:r>
            <a:r>
              <a:rPr sz="1800" b="1" spc="-75" dirty="0">
                <a:latin typeface="Cambria"/>
                <a:cs typeface="Cambria"/>
              </a:rPr>
              <a:t> </a:t>
            </a:r>
            <a:r>
              <a:rPr sz="1800" b="1" spc="-10" dirty="0">
                <a:latin typeface="Cambria"/>
                <a:cs typeface="Cambria"/>
              </a:rPr>
              <a:t>Professor</a:t>
            </a:r>
            <a:endParaRPr sz="1800" dirty="0">
              <a:latin typeface="Cambria"/>
              <a:cs typeface="Cambria"/>
            </a:endParaRPr>
          </a:p>
          <a:p>
            <a:pPr marL="12700" marR="5080">
              <a:lnSpc>
                <a:spcPct val="115700"/>
              </a:lnSpc>
            </a:pPr>
            <a:r>
              <a:rPr sz="1800" b="1" dirty="0">
                <a:latin typeface="Cambria"/>
                <a:cs typeface="Cambria"/>
              </a:rPr>
              <a:t>School</a:t>
            </a:r>
            <a:r>
              <a:rPr sz="1800" b="1" spc="-50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of</a:t>
            </a:r>
            <a:r>
              <a:rPr sz="1800" b="1" spc="-45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Computer</a:t>
            </a:r>
            <a:r>
              <a:rPr sz="1800" b="1" spc="-50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Science</a:t>
            </a:r>
            <a:r>
              <a:rPr sz="1800" b="1" spc="-45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and</a:t>
            </a:r>
            <a:r>
              <a:rPr sz="1800" b="1" spc="-55" dirty="0">
                <a:latin typeface="Cambria"/>
                <a:cs typeface="Cambria"/>
              </a:rPr>
              <a:t> </a:t>
            </a:r>
            <a:r>
              <a:rPr sz="1800" b="1" spc="-10" dirty="0">
                <a:latin typeface="Cambria"/>
                <a:cs typeface="Cambria"/>
              </a:rPr>
              <a:t>Engineering </a:t>
            </a:r>
            <a:r>
              <a:rPr sz="1800" b="1" dirty="0">
                <a:latin typeface="Cambria"/>
                <a:cs typeface="Cambria"/>
              </a:rPr>
              <a:t>Presidency</a:t>
            </a:r>
            <a:r>
              <a:rPr sz="1800" b="1" spc="-70" dirty="0">
                <a:latin typeface="Cambria"/>
                <a:cs typeface="Cambria"/>
              </a:rPr>
              <a:t> </a:t>
            </a:r>
            <a:r>
              <a:rPr sz="1800" b="1" spc="-10" dirty="0">
                <a:latin typeface="Cambria"/>
                <a:cs typeface="Cambria"/>
              </a:rPr>
              <a:t>University</a:t>
            </a:r>
            <a:endParaRPr sz="1800" dirty="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09256" y="2655798"/>
            <a:ext cx="1572895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08585">
              <a:lnSpc>
                <a:spcPct val="133300"/>
              </a:lnSpc>
              <a:spcBef>
                <a:spcPts val="100"/>
              </a:spcBef>
            </a:pPr>
            <a:r>
              <a:rPr sz="1800" b="1" dirty="0">
                <a:solidFill>
                  <a:srgbClr val="16365D"/>
                </a:solidFill>
                <a:latin typeface="Cambria"/>
                <a:cs typeface="Cambria"/>
              </a:rPr>
              <a:t>Roll</a:t>
            </a:r>
            <a:r>
              <a:rPr sz="1800" b="1" spc="-25" dirty="0">
                <a:solidFill>
                  <a:srgbClr val="16365D"/>
                </a:solidFill>
                <a:latin typeface="Cambria"/>
                <a:cs typeface="Cambria"/>
              </a:rPr>
              <a:t> </a:t>
            </a:r>
            <a:r>
              <a:rPr sz="1800" b="1" spc="-10" dirty="0">
                <a:solidFill>
                  <a:srgbClr val="16365D"/>
                </a:solidFill>
                <a:latin typeface="Cambria"/>
                <a:cs typeface="Cambria"/>
              </a:rPr>
              <a:t>Number </a:t>
            </a:r>
            <a:r>
              <a:rPr sz="1800" b="1" spc="-10" dirty="0">
                <a:latin typeface="Cambria"/>
                <a:cs typeface="Cambria"/>
              </a:rPr>
              <a:t>20221ISE0053</a:t>
            </a:r>
            <a:endParaRPr sz="18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1800" b="1" spc="-10" dirty="0">
                <a:latin typeface="Cambria"/>
                <a:cs typeface="Cambria"/>
              </a:rPr>
              <a:t>20221ISE0083</a:t>
            </a:r>
            <a:endParaRPr sz="18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1800" b="1" spc="-10" dirty="0">
                <a:latin typeface="Cambria"/>
                <a:cs typeface="Cambria"/>
              </a:rPr>
              <a:t>20221ISE0084</a:t>
            </a:r>
            <a:endParaRPr sz="1800" dirty="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17786" y="2655798"/>
            <a:ext cx="2446655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539750">
              <a:lnSpc>
                <a:spcPct val="133300"/>
              </a:lnSpc>
              <a:spcBef>
                <a:spcPts val="100"/>
              </a:spcBef>
            </a:pPr>
            <a:r>
              <a:rPr sz="1800" b="1" dirty="0">
                <a:solidFill>
                  <a:srgbClr val="16365D"/>
                </a:solidFill>
                <a:latin typeface="Cambria"/>
                <a:cs typeface="Cambria"/>
              </a:rPr>
              <a:t>Student</a:t>
            </a:r>
            <a:r>
              <a:rPr sz="1800" b="1" spc="-75" dirty="0">
                <a:solidFill>
                  <a:srgbClr val="16365D"/>
                </a:solidFill>
                <a:latin typeface="Cambria"/>
                <a:cs typeface="Cambria"/>
              </a:rPr>
              <a:t> </a:t>
            </a:r>
            <a:r>
              <a:rPr sz="1800" b="1" spc="-20" dirty="0">
                <a:solidFill>
                  <a:srgbClr val="16365D"/>
                </a:solidFill>
                <a:latin typeface="Cambria"/>
                <a:cs typeface="Cambria"/>
              </a:rPr>
              <a:t>Name </a:t>
            </a:r>
            <a:r>
              <a:rPr sz="1800" b="1" dirty="0">
                <a:latin typeface="Cambria"/>
                <a:cs typeface="Cambria"/>
              </a:rPr>
              <a:t>Mohamed</a:t>
            </a:r>
            <a:r>
              <a:rPr sz="1800" b="1" spc="-50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Aslam</a:t>
            </a:r>
            <a:r>
              <a:rPr sz="1800" b="1" spc="-40" dirty="0">
                <a:latin typeface="Cambria"/>
                <a:cs typeface="Cambria"/>
              </a:rPr>
              <a:t> </a:t>
            </a:r>
            <a:r>
              <a:rPr sz="1800" b="1" spc="-20" dirty="0">
                <a:latin typeface="Cambria"/>
                <a:cs typeface="Cambria"/>
              </a:rPr>
              <a:t>Pasha </a:t>
            </a:r>
            <a:r>
              <a:rPr sz="1800" b="1" dirty="0">
                <a:latin typeface="Cambria"/>
                <a:cs typeface="Cambria"/>
              </a:rPr>
              <a:t>Kovuri</a:t>
            </a:r>
            <a:r>
              <a:rPr sz="1800" b="1" spc="-45" dirty="0">
                <a:latin typeface="Cambria"/>
                <a:cs typeface="Cambria"/>
              </a:rPr>
              <a:t> </a:t>
            </a:r>
            <a:r>
              <a:rPr sz="1800" b="1" spc="-10" dirty="0">
                <a:latin typeface="Cambria"/>
                <a:cs typeface="Cambria"/>
              </a:rPr>
              <a:t>Nizamuddin </a:t>
            </a:r>
            <a:r>
              <a:rPr sz="1800" b="1" dirty="0">
                <a:latin typeface="Cambria"/>
                <a:cs typeface="Cambria"/>
              </a:rPr>
              <a:t>Vaseem</a:t>
            </a:r>
            <a:r>
              <a:rPr sz="1800" b="1" spc="-25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B</a:t>
            </a:r>
            <a:r>
              <a:rPr sz="1800" b="1" spc="-20" dirty="0">
                <a:latin typeface="Cambria"/>
                <a:cs typeface="Cambria"/>
              </a:rPr>
              <a:t> </a:t>
            </a:r>
            <a:r>
              <a:rPr sz="1800" b="1" spc="-50" dirty="0">
                <a:latin typeface="Cambria"/>
                <a:cs typeface="Cambria"/>
              </a:rPr>
              <a:t>M</a:t>
            </a:r>
            <a:endParaRPr sz="1800" dirty="0">
              <a:latin typeface="Cambria"/>
              <a:cs typeface="Cambri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157470" y="121830"/>
            <a:ext cx="3081529" cy="61734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33450" marR="5080" indent="-920750">
              <a:lnSpc>
                <a:spcPct val="114399"/>
              </a:lnSpc>
              <a:spcBef>
                <a:spcPts val="95"/>
              </a:spcBef>
            </a:pPr>
            <a:r>
              <a:rPr sz="1800" dirty="0"/>
              <a:t>CSE7</a:t>
            </a:r>
            <a:r>
              <a:rPr lang="en-US" sz="1800" dirty="0"/>
              <a:t>3</a:t>
            </a:r>
            <a:r>
              <a:rPr sz="1800" dirty="0"/>
              <a:t>0</a:t>
            </a:r>
            <a:r>
              <a:rPr lang="en-US" sz="1800" dirty="0"/>
              <a:t>2</a:t>
            </a:r>
            <a:r>
              <a:rPr sz="1800" dirty="0"/>
              <a:t>-</a:t>
            </a:r>
            <a:r>
              <a:rPr sz="1800" spc="-65" dirty="0"/>
              <a:t> </a:t>
            </a:r>
            <a:r>
              <a:rPr lang="en-US" sz="1800" spc="-65" dirty="0"/>
              <a:t>University</a:t>
            </a:r>
            <a:r>
              <a:rPr sz="1800" spc="-65" dirty="0"/>
              <a:t> </a:t>
            </a:r>
            <a:r>
              <a:rPr sz="1800" spc="-10" dirty="0"/>
              <a:t>Project Review-</a:t>
            </a:r>
            <a:r>
              <a:rPr sz="1800" spc="-50" dirty="0"/>
              <a:t>1</a:t>
            </a:r>
            <a:endParaRPr sz="1800" dirty="0"/>
          </a:p>
        </p:txBody>
      </p:sp>
      <p:sp>
        <p:nvSpPr>
          <p:cNvPr id="7" name="object 7"/>
          <p:cNvSpPr txBox="1"/>
          <p:nvPr/>
        </p:nvSpPr>
        <p:spPr>
          <a:xfrm>
            <a:off x="78105" y="4558665"/>
            <a:ext cx="7527925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Name</a:t>
            </a:r>
            <a:r>
              <a:rPr sz="1800" b="1" spc="-30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of</a:t>
            </a:r>
            <a:r>
              <a:rPr sz="1800" b="1" spc="-30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the</a:t>
            </a:r>
            <a:r>
              <a:rPr sz="1800" b="1" spc="-30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Program:</a:t>
            </a:r>
            <a:r>
              <a:rPr sz="1800" b="1" spc="-25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spc="-10" dirty="0">
                <a:latin typeface="Cambria"/>
                <a:cs typeface="Cambria"/>
              </a:rPr>
              <a:t>B.Tech</a:t>
            </a:r>
            <a:endParaRPr sz="1800" dirty="0">
              <a:latin typeface="Cambria"/>
              <a:cs typeface="Cambria"/>
            </a:endParaRPr>
          </a:p>
          <a:p>
            <a:pPr>
              <a:buClr>
                <a:srgbClr val="17365D"/>
              </a:buClr>
              <a:buSzPct val="100000"/>
            </a:pP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Name</a:t>
            </a:r>
            <a:r>
              <a:rPr sz="1800" b="1" spc="-15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of</a:t>
            </a:r>
            <a:r>
              <a:rPr sz="1800" b="1" spc="-10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the</a:t>
            </a:r>
            <a:r>
              <a:rPr sz="1800" b="1" spc="-10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HoD:</a:t>
            </a:r>
            <a:r>
              <a:rPr sz="1800" b="1" spc="-5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lang="en-US" sz="1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Dr.</a:t>
            </a:r>
            <a: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Gopal Shyam</a:t>
            </a:r>
            <a:endParaRPr lang="en-US" sz="1800" b="1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Name</a:t>
            </a:r>
            <a:r>
              <a:rPr sz="1800" b="1" spc="-25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of</a:t>
            </a:r>
            <a:r>
              <a:rPr sz="1800" b="1" spc="-20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the</a:t>
            </a:r>
            <a:r>
              <a:rPr sz="1800" b="1" spc="-20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School</a:t>
            </a:r>
            <a:r>
              <a:rPr sz="1800" b="1" spc="-25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dirty="0">
                <a:solidFill>
                  <a:srgbClr val="4F81BC"/>
                </a:solidFill>
                <a:latin typeface="Cambria"/>
                <a:cs typeface="Cambria"/>
              </a:rPr>
              <a:t>Project</a:t>
            </a:r>
            <a:r>
              <a:rPr sz="1800" b="1" spc="-20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sz="1800" b="1" spc="-10" dirty="0">
                <a:solidFill>
                  <a:srgbClr val="4F81BC"/>
                </a:solidFill>
                <a:latin typeface="Cambria"/>
                <a:cs typeface="Cambria"/>
              </a:rPr>
              <a:t>Coordinators:</a:t>
            </a:r>
            <a:r>
              <a:rPr sz="1800" b="1" spc="-15" dirty="0">
                <a:solidFill>
                  <a:srgbClr val="4F81BC"/>
                </a:solidFill>
                <a:latin typeface="Cambria"/>
                <a:cs typeface="Cambria"/>
              </a:rPr>
              <a:t>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Ms. </a:t>
            </a:r>
            <a:r>
              <a:rPr lang="en-US" b="1">
                <a:latin typeface="Cambria" panose="02040503050406030204" pitchFamily="18" charset="0"/>
                <a:ea typeface="Cambria" panose="02040503050406030204" pitchFamily="18" charset="0"/>
              </a:rPr>
              <a:t>Sumita Guddin </a:t>
            </a:r>
            <a:endParaRPr sz="180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Content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86282" y="1263713"/>
            <a:ext cx="9553118" cy="4170372"/>
          </a:xfrm>
          <a:prstGeom prst="rect">
            <a:avLst/>
          </a:prstGeom>
        </p:spPr>
        <p:txBody>
          <a:bodyPr vert="horz" wrap="square" lIns="0" tIns="10668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40"/>
              </a:spcBef>
              <a:buSzPct val="150000"/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Problem</a:t>
            </a:r>
            <a:r>
              <a:rPr sz="2400" spc="-6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</a:t>
            </a:r>
            <a:r>
              <a:rPr sz="2400" spc="-1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Statement</a:t>
            </a:r>
            <a:endParaRPr sz="240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Arial MT"/>
              <a:buChar char="•"/>
            </a:pPr>
            <a:endParaRPr sz="240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SzPct val="150000"/>
              <a:buFont typeface="Arial MT"/>
              <a:buChar char="•"/>
              <a:tabLst>
                <a:tab pos="354965" algn="l"/>
              </a:tabLst>
            </a:pPr>
            <a:r>
              <a:rPr sz="2400" spc="-1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Objectives</a:t>
            </a:r>
            <a:endParaRPr lang="en-US" sz="2400" spc="-1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buSzPct val="150000"/>
              <a:tabLst>
                <a:tab pos="354965" algn="l"/>
              </a:tabLst>
            </a:pPr>
            <a:endParaRPr sz="240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354965" indent="-342265">
              <a:lnSpc>
                <a:spcPct val="100000"/>
              </a:lnSpc>
              <a:buSzPct val="150000"/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Analysis</a:t>
            </a:r>
            <a:r>
              <a:rPr sz="2400" spc="-5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of</a:t>
            </a:r>
            <a:r>
              <a:rPr sz="2400" spc="-5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Problem</a:t>
            </a:r>
            <a:r>
              <a:rPr sz="2400" spc="-5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</a:t>
            </a:r>
            <a:r>
              <a:rPr sz="2400" spc="-1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Statement</a:t>
            </a:r>
            <a:r>
              <a:rPr lang="en-US" sz="2400" spc="-1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(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Software</a:t>
            </a:r>
            <a:r>
              <a:rPr lang="en-US" sz="2400" spc="-5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Requirements</a:t>
            </a:r>
            <a:r>
              <a:rPr lang="en-US" sz="2400" spc="-1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)</a:t>
            </a:r>
          </a:p>
          <a:p>
            <a:pPr marL="354965" indent="-342265">
              <a:lnSpc>
                <a:spcPct val="100000"/>
              </a:lnSpc>
              <a:buSzPct val="150000"/>
              <a:buFont typeface="Arial MT"/>
              <a:buChar char="•"/>
              <a:tabLst>
                <a:tab pos="354965" algn="l"/>
              </a:tabLst>
            </a:pPr>
            <a:endParaRPr lang="en-US" sz="2400" spc="-1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354965" indent="-342265">
              <a:buSzPct val="150000"/>
              <a:buFont typeface="Arial MT"/>
              <a:buChar char="•"/>
              <a:tabLst>
                <a:tab pos="354965" algn="l"/>
              </a:tabLst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Analysis</a:t>
            </a:r>
            <a:r>
              <a:rPr lang="en-US" sz="2400" spc="-5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of</a:t>
            </a:r>
            <a:r>
              <a:rPr lang="en-US" sz="2400" spc="-5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Problem</a:t>
            </a:r>
            <a:r>
              <a:rPr lang="en-US" sz="2400" spc="-5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</a:t>
            </a:r>
            <a:r>
              <a:rPr lang="en-US" sz="2400" spc="-1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Statement(Hardware</a:t>
            </a:r>
            <a:r>
              <a:rPr lang="en-US" sz="2400" spc="-5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Requirements</a:t>
            </a:r>
            <a:r>
              <a:rPr lang="en-US" sz="2400" spc="-1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)</a:t>
            </a:r>
            <a:endParaRPr sz="240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Arial MT"/>
              <a:buChar char="•"/>
            </a:pPr>
            <a:endParaRPr sz="240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354965" indent="-342265">
              <a:lnSpc>
                <a:spcPct val="100000"/>
              </a:lnSpc>
              <a:buSzPct val="150000"/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Innovation</a:t>
            </a:r>
            <a:r>
              <a:rPr sz="2400" spc="-45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or</a:t>
            </a:r>
            <a:r>
              <a:rPr sz="2400" spc="-5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Novel</a:t>
            </a:r>
            <a:r>
              <a:rPr sz="2400" spc="-45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</a:t>
            </a:r>
            <a:r>
              <a:rPr sz="2400" spc="-1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Contributions</a:t>
            </a:r>
            <a:endParaRPr sz="240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Arial MT"/>
              <a:buChar char="•"/>
            </a:pPr>
            <a:endParaRPr sz="240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40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Problem</a:t>
            </a:r>
            <a:r>
              <a:rPr spc="-75" dirty="0"/>
              <a:t> </a:t>
            </a:r>
            <a:r>
              <a:rPr dirty="0"/>
              <a:t>Statement</a:t>
            </a:r>
            <a:r>
              <a:rPr spc="-75" dirty="0"/>
              <a:t> </a:t>
            </a:r>
            <a:r>
              <a:rPr spc="-50" dirty="0"/>
              <a:t>: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762000" y="1169669"/>
            <a:ext cx="10640695" cy="487498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b="1" dirty="0">
                <a:latin typeface="Cambria"/>
                <a:cs typeface="Cambria"/>
              </a:rPr>
              <a:t>Organization:</a:t>
            </a:r>
            <a:r>
              <a:rPr sz="1800" b="1" spc="-55" dirty="0">
                <a:latin typeface="Cambria"/>
                <a:cs typeface="Cambria"/>
              </a:rPr>
              <a:t> </a:t>
            </a:r>
            <a:r>
              <a:rPr lang="en-IN" sz="1800" spc="-55" dirty="0">
                <a:latin typeface="Cambria"/>
                <a:cs typeface="Cambria"/>
              </a:rPr>
              <a:t>Smart Automation</a:t>
            </a:r>
            <a:endParaRPr sz="1800" spc="-1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600"/>
              </a:spcBef>
            </a:pPr>
            <a:r>
              <a:rPr sz="1800" b="1" dirty="0">
                <a:latin typeface="Cambria"/>
                <a:cs typeface="Cambria"/>
              </a:rPr>
              <a:t>Category</a:t>
            </a:r>
            <a:r>
              <a:rPr sz="1800" b="1" spc="-35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:</a:t>
            </a:r>
            <a:r>
              <a:rPr sz="1800" b="1" spc="-3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Software</a:t>
            </a:r>
          </a:p>
          <a:p>
            <a:pPr>
              <a:lnSpc>
                <a:spcPct val="150000"/>
              </a:lnSpc>
            </a:pPr>
            <a:r>
              <a:rPr sz="1800" b="1" dirty="0">
                <a:latin typeface="Cambria"/>
                <a:cs typeface="Cambria"/>
              </a:rPr>
              <a:t>Problem</a:t>
            </a:r>
            <a:r>
              <a:rPr sz="1800" b="1" spc="250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Description:</a:t>
            </a:r>
            <a:r>
              <a:rPr sz="1800" b="1" spc="254" dirty="0">
                <a:latin typeface="Cambria"/>
                <a:cs typeface="Cambria"/>
              </a:rPr>
              <a:t> 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With the rapid growth of unstructured and multimodal data, organizations increasingly rely on documents, scanned images, and voice recordings to store critical information. However, existing information retrieval and question-answering systems are largely </a:t>
            </a:r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text-centric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 and </a:t>
            </a:r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cloud-dependent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, making them unsuitable for </a:t>
            </a:r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offline, secure, or resource-constrained environments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 such as defense systems, healthcare facilities, research labs, and remote locations.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Traditional search systems struggle to </a:t>
            </a:r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understand semantic meaning across multiple data formats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 like DOC files, PDFs, images, and audio recordings. They often require separate processing pipelines for each modality and lack a unified framework for cross-modal retrieval. Moreover, most modern Large Language Model (LLM)–based solutions depend heavily on internet connectivity and external APIs, raising concerns related to </a:t>
            </a:r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data privacy, latency, regulatory compliance, and operational continuity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Objectives</a:t>
            </a:r>
            <a:r>
              <a:rPr spc="-110" dirty="0"/>
              <a:t> </a:t>
            </a:r>
            <a:r>
              <a:rPr spc="-50" dirty="0"/>
              <a:t>: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685800" y="1143000"/>
            <a:ext cx="10511790" cy="486017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l">
              <a:lnSpc>
                <a:spcPct val="200000"/>
              </a:lnSpc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1. Develop an Offline-Capable RAG Architecture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l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  Design a complete RAG pipeline that functions entirely in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offline mode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, eliminating dependency on cloud services or   external APIs.</a:t>
            </a:r>
            <a:endParaRPr spc="-10" dirty="0">
              <a:latin typeface="Cambria"/>
              <a:cs typeface="Cambria"/>
            </a:endParaRPr>
          </a:p>
          <a:p>
            <a:pPr marL="223520" indent="-210820" algn="l">
              <a:lnSpc>
                <a:spcPct val="200000"/>
              </a:lnSpc>
              <a:buAutoNum type="arabicPeriod" startAt="2"/>
              <a:tabLst>
                <a:tab pos="223520" algn="l"/>
              </a:tabLst>
            </a:pP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Enable Multimodal Data Ingestion</a:t>
            </a:r>
            <a:endParaRPr b="1" spc="-1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203200" marR="5080" indent="-12700" algn="l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Implement robust ingestion mechanisms for multiple data formats including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text documents (DOC, PDF)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images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, and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audio recordings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  <a:endParaRPr spc="-1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223520" indent="-210820" algn="l">
              <a:lnSpc>
                <a:spcPct val="200000"/>
              </a:lnSpc>
              <a:buAutoNum type="arabicPeriod" startAt="3"/>
              <a:tabLst>
                <a:tab pos="223520" algn="l"/>
              </a:tabLst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Create a Unified Semantic Embedding Framework</a:t>
            </a:r>
            <a:endParaRPr b="1" spc="-1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190500" algn="l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Convert all modalities into a common vector embedding space using modality-specific encoders. </a:t>
            </a:r>
          </a:p>
          <a:p>
            <a:pPr marL="190500" algn="l">
              <a:lnSpc>
                <a:spcPct val="200000"/>
              </a:lnSpc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4.Design an Efficient Offline Indexing and Retrieval Mechanism</a:t>
            </a:r>
            <a:endParaRPr b="1" spc="-1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190500" algn="l">
              <a:lnSpc>
                <a:spcPct val="200000"/>
              </a:lnSpc>
              <a:spcBef>
                <a:spcPts val="5"/>
              </a:spcBef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Implement a local vector database or similarity search index to store multimodal embeddings.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Objectives</a:t>
            </a:r>
            <a:r>
              <a:rPr spc="-110" dirty="0"/>
              <a:t> </a:t>
            </a:r>
            <a:r>
              <a:rPr spc="-50" dirty="0"/>
              <a:t>: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762000" y="1169669"/>
            <a:ext cx="10640695" cy="486017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23520" indent="-210820">
              <a:lnSpc>
                <a:spcPct val="200000"/>
              </a:lnSpc>
              <a:spcBef>
                <a:spcPts val="95"/>
              </a:spcBef>
              <a:buAutoNum type="arabicPeriod" startAt="5"/>
              <a:tabLst>
                <a:tab pos="223520" algn="l"/>
              </a:tabLst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Integrate an Offline Large Language Model</a:t>
            </a:r>
            <a:endParaRPr b="1" spc="-1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203200" marR="5080" indent="-12700">
              <a:lnSpc>
                <a:spcPct val="200000"/>
              </a:lnSpc>
              <a:spcBef>
                <a:spcPts val="5"/>
              </a:spcBef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Deploy a lightweight or optimized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local LLM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capable of understanding retrieved context and generating meaningful responses.</a:t>
            </a:r>
            <a:endParaRPr spc="-1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223520" indent="-210820">
              <a:lnSpc>
                <a:spcPct val="200000"/>
              </a:lnSpc>
              <a:buAutoNum type="arabicPeriod" startAt="6"/>
              <a:tabLst>
                <a:tab pos="223520" algn="l"/>
              </a:tabLst>
            </a:pP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Support Context-Aware Question Answering</a:t>
            </a:r>
            <a:endParaRPr b="1" spc="-1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203200" marR="48895" indent="-1270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Enable users to query the system using natural language and receive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contextually accurate, explainable responses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grounded in retrieved documents.</a:t>
            </a:r>
            <a:endParaRPr spc="-1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223520" indent="-210820">
              <a:lnSpc>
                <a:spcPct val="200000"/>
              </a:lnSpc>
              <a:buAutoNum type="arabicPeriod" startAt="7"/>
              <a:tabLst>
                <a:tab pos="223520" algn="l"/>
              </a:tabLst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Ensure Data Privacy and Security</a:t>
            </a:r>
            <a:endParaRPr b="1" spc="-25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203200" marR="5080" indent="-1270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Maintain complete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data sovereignty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by keeping all documents, embeddings, and inference processes local.</a:t>
            </a:r>
            <a:endParaRPr spc="-1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223520" indent="-210820">
              <a:lnSpc>
                <a:spcPct val="200000"/>
              </a:lnSpc>
              <a:buAutoNum type="arabicPeriod" startAt="8"/>
              <a:tabLst>
                <a:tab pos="223520" algn="l"/>
              </a:tabLst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Provide a Scalable and Extensible System Design</a:t>
            </a:r>
            <a:endParaRPr b="1" spc="-1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203200" marR="5080" indent="-12700">
              <a:lnSpc>
                <a:spcPct val="200000"/>
              </a:lnSpc>
              <a:spcBef>
                <a:spcPts val="5"/>
              </a:spcBef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Design the architecture to support future expansion to additional data formats and models.</a:t>
            </a:r>
            <a:endParaRPr spc="-1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5100">
              <a:lnSpc>
                <a:spcPct val="100000"/>
              </a:lnSpc>
              <a:spcBef>
                <a:spcPts val="95"/>
              </a:spcBef>
            </a:pPr>
            <a:r>
              <a:rPr dirty="0"/>
              <a:t>Analysis</a:t>
            </a:r>
            <a:r>
              <a:rPr spc="-70" dirty="0"/>
              <a:t> </a:t>
            </a:r>
            <a:r>
              <a:rPr dirty="0"/>
              <a:t>of</a:t>
            </a:r>
            <a:r>
              <a:rPr spc="-65" dirty="0"/>
              <a:t> </a:t>
            </a:r>
            <a:r>
              <a:rPr dirty="0"/>
              <a:t>Problem</a:t>
            </a:r>
            <a:r>
              <a:rPr spc="-65" dirty="0"/>
              <a:t> </a:t>
            </a:r>
            <a:r>
              <a:rPr dirty="0"/>
              <a:t>Statement</a:t>
            </a:r>
            <a:r>
              <a:rPr spc="-65" dirty="0"/>
              <a:t> </a:t>
            </a:r>
            <a:r>
              <a:rPr sz="2000" dirty="0"/>
              <a:t>(</a:t>
            </a:r>
            <a:r>
              <a:rPr sz="2000" spc="-50" dirty="0"/>
              <a:t> </a:t>
            </a:r>
            <a:r>
              <a:rPr sz="2000" dirty="0"/>
              <a:t>Software</a:t>
            </a:r>
            <a:r>
              <a:rPr sz="2000" spc="-50" dirty="0"/>
              <a:t> </a:t>
            </a:r>
            <a:r>
              <a:rPr sz="2000" dirty="0"/>
              <a:t>Requirements</a:t>
            </a:r>
            <a:r>
              <a:rPr sz="2000" spc="-50" dirty="0"/>
              <a:t> )</a:t>
            </a:r>
            <a:endParaRPr sz="2000" dirty="0"/>
          </a:p>
        </p:txBody>
      </p:sp>
      <p:sp>
        <p:nvSpPr>
          <p:cNvPr id="3" name="object 3"/>
          <p:cNvSpPr txBox="1"/>
          <p:nvPr/>
        </p:nvSpPr>
        <p:spPr>
          <a:xfrm>
            <a:off x="1043305" y="1169669"/>
            <a:ext cx="8389620" cy="51058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00" b="1" dirty="0">
                <a:latin typeface="Cambria"/>
                <a:cs typeface="Cambria"/>
              </a:rPr>
              <a:t>1</a:t>
            </a:r>
            <a:r>
              <a:rPr sz="1700" b="1" spc="-10" dirty="0">
                <a:latin typeface="Cambria"/>
                <a:cs typeface="Cambria"/>
              </a:rPr>
              <a:t> Frontend</a:t>
            </a:r>
            <a:endParaRPr sz="1700" dirty="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1700" spc="-20" dirty="0">
                <a:latin typeface="Cambria"/>
                <a:cs typeface="Cambria"/>
              </a:rPr>
              <a:t>HTML</a:t>
            </a:r>
            <a:endParaRPr sz="1700" dirty="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1700" spc="-25" dirty="0">
                <a:latin typeface="Cambria"/>
                <a:cs typeface="Cambria"/>
              </a:rPr>
              <a:t>CSS</a:t>
            </a:r>
            <a:endParaRPr sz="1700" dirty="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1700" spc="-10" dirty="0">
                <a:latin typeface="Cambria"/>
                <a:cs typeface="Cambria"/>
              </a:rPr>
              <a:t>JavaScript</a:t>
            </a:r>
            <a:endParaRPr lang="en-US" sz="1700" spc="-10" dirty="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endParaRPr sz="17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700" b="1" dirty="0">
                <a:latin typeface="Cambria"/>
                <a:cs typeface="Cambria"/>
              </a:rPr>
              <a:t>2</a:t>
            </a:r>
            <a:r>
              <a:rPr sz="1700" b="1" spc="-10" dirty="0">
                <a:latin typeface="Cambria"/>
                <a:cs typeface="Cambria"/>
              </a:rPr>
              <a:t> Backend</a:t>
            </a:r>
            <a:endParaRPr sz="1700" dirty="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1700" dirty="0">
                <a:latin typeface="Cambria"/>
                <a:cs typeface="Cambria"/>
              </a:rPr>
              <a:t>Python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with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spc="-20" dirty="0">
                <a:latin typeface="Cambria"/>
                <a:cs typeface="Cambria"/>
              </a:rPr>
              <a:t>Flask</a:t>
            </a:r>
            <a:endParaRPr lang="en-US" sz="1700" spc="-2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endParaRPr sz="17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700" b="1" dirty="0">
                <a:latin typeface="Cambria"/>
                <a:cs typeface="Cambria"/>
              </a:rPr>
              <a:t>3</a:t>
            </a:r>
            <a:r>
              <a:rPr sz="1700" b="1" spc="-2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AI/ML</a:t>
            </a:r>
            <a:r>
              <a:rPr sz="1700" b="1" spc="-25" dirty="0">
                <a:latin typeface="Cambria"/>
                <a:cs typeface="Cambria"/>
              </a:rPr>
              <a:t> </a:t>
            </a:r>
            <a:r>
              <a:rPr sz="1700" b="1" spc="-20" dirty="0">
                <a:latin typeface="Cambria"/>
                <a:cs typeface="Cambria"/>
              </a:rPr>
              <a:t>Model</a:t>
            </a:r>
            <a:endParaRPr sz="1700" dirty="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1700" dirty="0">
                <a:latin typeface="Cambria"/>
                <a:cs typeface="Cambria"/>
              </a:rPr>
              <a:t>Natural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Language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Processing(NLP):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lang="en-US" sz="1700" spc="-35" dirty="0">
                <a:latin typeface="Cambria"/>
                <a:cs typeface="Cambria"/>
              </a:rPr>
              <a:t>Python</a:t>
            </a:r>
            <a:endParaRPr sz="17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Arial MT"/>
              <a:buChar char="•"/>
            </a:pPr>
            <a:endParaRPr sz="17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700" b="1" dirty="0">
                <a:latin typeface="Cambria"/>
                <a:cs typeface="Cambria"/>
              </a:rPr>
              <a:t>4</a:t>
            </a:r>
            <a:r>
              <a:rPr sz="1700" b="1" spc="-10" dirty="0">
                <a:latin typeface="Cambria"/>
                <a:cs typeface="Cambria"/>
              </a:rPr>
              <a:t> Database</a:t>
            </a:r>
            <a:endParaRPr sz="1700" dirty="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lang="en-IN" sz="1700" dirty="0">
                <a:latin typeface="Cambria" panose="02040503050406030204" pitchFamily="18" charset="0"/>
                <a:ea typeface="Cambria" panose="02040503050406030204" pitchFamily="18" charset="0"/>
              </a:rPr>
              <a:t>SQL </a:t>
            </a: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endParaRPr sz="170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57150">
              <a:lnSpc>
                <a:spcPct val="100000"/>
              </a:lnSpc>
            </a:pPr>
            <a:r>
              <a:rPr sz="1700" b="1" dirty="0">
                <a:latin typeface="Cambria"/>
                <a:cs typeface="Cambria"/>
              </a:rPr>
              <a:t>5</a:t>
            </a:r>
            <a:r>
              <a:rPr sz="1700" b="1" spc="-4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Development</a:t>
            </a:r>
            <a:r>
              <a:rPr sz="1700" b="1" spc="-40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Tools:</a:t>
            </a:r>
            <a:endParaRPr sz="1700" dirty="0">
              <a:latin typeface="Cambria"/>
              <a:cs typeface="Cambria"/>
            </a:endParaRPr>
          </a:p>
          <a:p>
            <a:pPr marL="297815" indent="-285115">
              <a:lnSpc>
                <a:spcPct val="100000"/>
              </a:lnSpc>
              <a:spcBef>
                <a:spcPts val="960"/>
              </a:spcBef>
              <a:buFont typeface="Arial MT"/>
              <a:buChar char="•"/>
              <a:tabLst>
                <a:tab pos="297815" algn="l"/>
              </a:tabLst>
            </a:pP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Tools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like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VS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Code,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lang="en-US" sz="1700" spc="-10" dirty="0">
                <a:latin typeface="Cambria"/>
                <a:cs typeface="Cambria"/>
              </a:rPr>
              <a:t>Git</a:t>
            </a:r>
            <a:endParaRPr sz="1700" dirty="0">
              <a:latin typeface="Cambria"/>
              <a:cs typeface="Cambria"/>
            </a:endParaRPr>
          </a:p>
          <a:p>
            <a:pPr marL="297815" indent="-285115">
              <a:lnSpc>
                <a:spcPct val="100000"/>
              </a:lnSpc>
              <a:spcBef>
                <a:spcPts val="960"/>
              </a:spcBef>
              <a:buFont typeface="Arial MT"/>
              <a:buChar char="•"/>
              <a:tabLst>
                <a:tab pos="297815" algn="l"/>
              </a:tabLst>
            </a:pPr>
            <a:r>
              <a:rPr sz="1700" b="1" dirty="0">
                <a:latin typeface="Cambria"/>
                <a:cs typeface="Cambria"/>
              </a:rPr>
              <a:t>Testing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and</a:t>
            </a:r>
            <a:r>
              <a:rPr sz="1700" b="1" spc="-3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Debugging:</a:t>
            </a:r>
            <a:r>
              <a:rPr sz="1700" b="1" spc="-3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Web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Browser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(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Chrome,</a:t>
            </a:r>
            <a:r>
              <a:rPr sz="1700" spc="-2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Firefox,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Edge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)</a:t>
            </a:r>
            <a:endParaRPr lang="en-US" sz="1700" dirty="0">
              <a:latin typeface="Cambria"/>
              <a:cs typeface="Cambria"/>
            </a:endParaRPr>
          </a:p>
          <a:p>
            <a:pPr marL="297815" indent="-285115">
              <a:lnSpc>
                <a:spcPct val="100000"/>
              </a:lnSpc>
              <a:spcBef>
                <a:spcPts val="960"/>
              </a:spcBef>
              <a:buFont typeface="Arial MT"/>
              <a:buChar char="•"/>
              <a:tabLst>
                <a:tab pos="297815" algn="l"/>
              </a:tabLst>
            </a:pPr>
            <a:r>
              <a:rPr lang="en-IN" sz="1700" spc="-30" dirty="0">
                <a:latin typeface="Cambria"/>
                <a:cs typeface="Cambria"/>
              </a:rPr>
              <a:t>Python (with libraries and frameworks)</a:t>
            </a:r>
            <a:r>
              <a:rPr sz="1700" spc="-30" dirty="0">
                <a:latin typeface="Cambria"/>
                <a:cs typeface="Cambria"/>
              </a:rPr>
              <a:t> </a:t>
            </a:r>
            <a:endParaRPr sz="170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5100">
              <a:lnSpc>
                <a:spcPct val="100000"/>
              </a:lnSpc>
              <a:spcBef>
                <a:spcPts val="95"/>
              </a:spcBef>
            </a:pPr>
            <a:r>
              <a:rPr dirty="0"/>
              <a:t>Analysis</a:t>
            </a:r>
            <a:r>
              <a:rPr spc="-70" dirty="0"/>
              <a:t> </a:t>
            </a:r>
            <a:r>
              <a:rPr dirty="0"/>
              <a:t>of</a:t>
            </a:r>
            <a:r>
              <a:rPr spc="-70" dirty="0"/>
              <a:t> </a:t>
            </a:r>
            <a:r>
              <a:rPr dirty="0"/>
              <a:t>Problem</a:t>
            </a:r>
            <a:r>
              <a:rPr spc="-70" dirty="0"/>
              <a:t> </a:t>
            </a:r>
            <a:r>
              <a:rPr dirty="0"/>
              <a:t>Statement</a:t>
            </a:r>
            <a:r>
              <a:rPr spc="-70" dirty="0"/>
              <a:t> </a:t>
            </a:r>
            <a:r>
              <a:rPr sz="2000" dirty="0"/>
              <a:t>(</a:t>
            </a:r>
            <a:r>
              <a:rPr sz="2000" spc="-55" dirty="0"/>
              <a:t> </a:t>
            </a:r>
            <a:r>
              <a:rPr sz="2000" dirty="0"/>
              <a:t>Hardware</a:t>
            </a:r>
            <a:r>
              <a:rPr sz="2000" spc="-55" dirty="0"/>
              <a:t> </a:t>
            </a:r>
            <a:r>
              <a:rPr sz="2000" dirty="0"/>
              <a:t>Requirements</a:t>
            </a:r>
            <a:r>
              <a:rPr sz="2000" spc="-55" dirty="0"/>
              <a:t> </a:t>
            </a:r>
            <a:r>
              <a:rPr sz="2000" spc="-50" dirty="0"/>
              <a:t>)</a:t>
            </a:r>
            <a:endParaRPr sz="2000"/>
          </a:p>
        </p:txBody>
      </p:sp>
      <p:sp>
        <p:nvSpPr>
          <p:cNvPr id="3" name="object 3"/>
          <p:cNvSpPr txBox="1"/>
          <p:nvPr/>
        </p:nvSpPr>
        <p:spPr>
          <a:xfrm>
            <a:off x="762000" y="1311910"/>
            <a:ext cx="9685655" cy="479810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00" b="1" dirty="0">
                <a:latin typeface="Cambria"/>
                <a:cs typeface="Cambria"/>
              </a:rPr>
              <a:t>1</a:t>
            </a:r>
            <a:r>
              <a:rPr sz="1700" b="1" spc="-4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Development</a:t>
            </a:r>
            <a:r>
              <a:rPr sz="1700" b="1" spc="-40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Machine</a:t>
            </a:r>
            <a:endParaRPr sz="1700" dirty="0">
              <a:latin typeface="Cambria"/>
              <a:cs typeface="Cambria"/>
            </a:endParaRPr>
          </a:p>
          <a:p>
            <a:pPr marL="297815" indent="-285115">
              <a:lnSpc>
                <a:spcPct val="100000"/>
              </a:lnSpc>
              <a:spcBef>
                <a:spcPts val="1340"/>
              </a:spcBef>
              <a:buFont typeface="Arial MT"/>
              <a:buChar char="•"/>
              <a:tabLst>
                <a:tab pos="297815" algn="l"/>
              </a:tabLst>
            </a:pPr>
            <a:r>
              <a:rPr sz="1700" b="1" dirty="0">
                <a:latin typeface="Cambria"/>
                <a:cs typeface="Cambria"/>
              </a:rPr>
              <a:t>Processor:</a:t>
            </a:r>
            <a:r>
              <a:rPr sz="1700" b="1" spc="-3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A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modern</a:t>
            </a:r>
            <a:r>
              <a:rPr sz="1700" spc="-25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multi-</a:t>
            </a:r>
            <a:r>
              <a:rPr sz="1700" dirty="0">
                <a:latin typeface="Cambria"/>
                <a:cs typeface="Cambria"/>
              </a:rPr>
              <a:t>core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processor(</a:t>
            </a:r>
            <a:r>
              <a:rPr lang="sv-SE" sz="1700" dirty="0">
                <a:latin typeface="Cambria" panose="02040503050406030204" pitchFamily="18" charset="0"/>
                <a:ea typeface="Cambria" panose="02040503050406030204" pitchFamily="18" charset="0"/>
              </a:rPr>
              <a:t>64-bit Processor (Intel i5/i7 or AMD Ryzen 5/7)</a:t>
            </a:r>
            <a:r>
              <a:rPr sz="1700" spc="-10" dirty="0">
                <a:latin typeface="Cambria"/>
                <a:cs typeface="Cambria"/>
              </a:rPr>
              <a:t>)</a:t>
            </a:r>
            <a:endParaRPr sz="1700" dirty="0">
              <a:latin typeface="Cambria"/>
              <a:cs typeface="Cambria"/>
            </a:endParaRPr>
          </a:p>
          <a:p>
            <a:pPr marL="297815" indent="-285115">
              <a:lnSpc>
                <a:spcPct val="100000"/>
              </a:lnSpc>
              <a:spcBef>
                <a:spcPts val="1340"/>
              </a:spcBef>
              <a:buFont typeface="Arial MT"/>
              <a:buChar char="•"/>
              <a:tabLst>
                <a:tab pos="297815" algn="l"/>
              </a:tabLst>
            </a:pPr>
            <a:r>
              <a:rPr sz="1700" b="1" dirty="0">
                <a:latin typeface="Cambria"/>
                <a:cs typeface="Cambria"/>
              </a:rPr>
              <a:t>RAM:</a:t>
            </a:r>
            <a:r>
              <a:rPr sz="1700" b="1" spc="-2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At</a:t>
            </a:r>
            <a:r>
              <a:rPr sz="1700" spc="-2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least</a:t>
            </a:r>
            <a:r>
              <a:rPr sz="1700" spc="-25" dirty="0">
                <a:latin typeface="Cambria"/>
                <a:cs typeface="Cambria"/>
              </a:rPr>
              <a:t> </a:t>
            </a:r>
            <a:r>
              <a:rPr lang="en-US" sz="1700" spc="-25" dirty="0">
                <a:latin typeface="Cambria"/>
                <a:cs typeface="Cambria"/>
              </a:rPr>
              <a:t>8</a:t>
            </a:r>
            <a:r>
              <a:rPr sz="1700" spc="-20" dirty="0">
                <a:latin typeface="Cambria"/>
                <a:cs typeface="Cambria"/>
              </a:rPr>
              <a:t> </a:t>
            </a:r>
            <a:r>
              <a:rPr sz="1700" spc="-35" dirty="0">
                <a:latin typeface="Cambria"/>
                <a:cs typeface="Cambria"/>
              </a:rPr>
              <a:t>GB</a:t>
            </a:r>
            <a:endParaRPr sz="1700" dirty="0">
              <a:latin typeface="Cambria"/>
              <a:cs typeface="Cambria"/>
            </a:endParaRPr>
          </a:p>
          <a:p>
            <a:pPr marL="297815" indent="-285115">
              <a:lnSpc>
                <a:spcPct val="100000"/>
              </a:lnSpc>
              <a:spcBef>
                <a:spcPts val="1340"/>
              </a:spcBef>
              <a:buFont typeface="Arial MT"/>
              <a:buChar char="•"/>
              <a:tabLst>
                <a:tab pos="297815" algn="l"/>
              </a:tabLst>
            </a:pPr>
            <a:r>
              <a:rPr sz="1700" b="1" dirty="0">
                <a:latin typeface="Cambria"/>
                <a:cs typeface="Cambria"/>
              </a:rPr>
              <a:t>Storage: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lang="en-US" sz="1700" b="1" spc="-35" dirty="0">
                <a:latin typeface="Cambria"/>
                <a:cs typeface="Cambria"/>
              </a:rPr>
              <a:t> </a:t>
            </a:r>
            <a:r>
              <a:rPr lang="en-US" sz="1700" spc="-35" dirty="0">
                <a:latin typeface="Cambria"/>
                <a:cs typeface="Cambria"/>
              </a:rPr>
              <a:t>30</a:t>
            </a:r>
            <a:r>
              <a:rPr sz="1700" dirty="0">
                <a:latin typeface="Cambria"/>
                <a:cs typeface="Cambria"/>
              </a:rPr>
              <a:t>GB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recommended</a:t>
            </a:r>
            <a:endParaRPr sz="17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844"/>
              </a:spcBef>
            </a:pPr>
            <a:endParaRPr sz="17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700" b="1" dirty="0">
                <a:latin typeface="Cambria"/>
                <a:cs typeface="Cambria"/>
              </a:rPr>
              <a:t>2</a:t>
            </a:r>
            <a:r>
              <a:rPr sz="1700" b="1" spc="-10" dirty="0">
                <a:latin typeface="Cambria"/>
                <a:cs typeface="Cambria"/>
              </a:rPr>
              <a:t> Network:</a:t>
            </a:r>
            <a:endParaRPr sz="1700" dirty="0">
              <a:latin typeface="Cambria"/>
              <a:cs typeface="Cambria"/>
            </a:endParaRPr>
          </a:p>
          <a:p>
            <a:pPr marL="297815" indent="-285115">
              <a:lnSpc>
                <a:spcPct val="100000"/>
              </a:lnSpc>
              <a:spcBef>
                <a:spcPts val="1340"/>
              </a:spcBef>
              <a:buFont typeface="Arial MT"/>
              <a:buChar char="•"/>
              <a:tabLst>
                <a:tab pos="297815" algn="l"/>
              </a:tabLst>
            </a:pPr>
            <a:r>
              <a:rPr sz="1700" b="1" dirty="0">
                <a:latin typeface="Cambria"/>
                <a:cs typeface="Cambria"/>
              </a:rPr>
              <a:t>Internet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Connection:</a:t>
            </a:r>
            <a:r>
              <a:rPr sz="1700" b="1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Stable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and</a:t>
            </a:r>
            <a:r>
              <a:rPr sz="1700" spc="28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standard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speed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internet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connection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for</a:t>
            </a:r>
            <a:r>
              <a:rPr sz="1700" spc="-3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development</a:t>
            </a:r>
            <a:r>
              <a:rPr sz="1700" spc="-4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and</a:t>
            </a:r>
            <a:r>
              <a:rPr sz="1700" spc="-30" dirty="0">
                <a:latin typeface="Cambria"/>
                <a:cs typeface="Cambria"/>
              </a:rPr>
              <a:t> </a:t>
            </a:r>
            <a:r>
              <a:rPr sz="1700" spc="-10" dirty="0">
                <a:latin typeface="Cambria"/>
                <a:cs typeface="Cambria"/>
              </a:rPr>
              <a:t>deployement</a:t>
            </a:r>
            <a:endParaRPr sz="17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850"/>
              </a:spcBef>
            </a:pPr>
            <a:endParaRPr sz="17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700" b="1" dirty="0">
                <a:latin typeface="Cambria"/>
                <a:cs typeface="Cambria"/>
              </a:rPr>
              <a:t>3</a:t>
            </a:r>
            <a:r>
              <a:rPr sz="1700" b="1" spc="29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Additional</a:t>
            </a:r>
            <a:r>
              <a:rPr sz="1700" b="1" spc="-3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Hardware</a:t>
            </a:r>
            <a:r>
              <a:rPr sz="1700" b="1" spc="-25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(Optional</a:t>
            </a:r>
            <a:r>
              <a:rPr sz="1700" b="1" spc="-30" dirty="0">
                <a:latin typeface="Cambria"/>
                <a:cs typeface="Cambria"/>
              </a:rPr>
              <a:t> </a:t>
            </a:r>
            <a:r>
              <a:rPr sz="1700" b="1" dirty="0">
                <a:latin typeface="Cambria"/>
                <a:cs typeface="Cambria"/>
              </a:rPr>
              <a:t>for</a:t>
            </a:r>
            <a:r>
              <a:rPr sz="1700" b="1" spc="-30" dirty="0">
                <a:latin typeface="Cambria"/>
                <a:cs typeface="Cambria"/>
              </a:rPr>
              <a:t> </a:t>
            </a:r>
            <a:r>
              <a:rPr sz="1700" b="1" spc="-10" dirty="0">
                <a:latin typeface="Cambria"/>
                <a:cs typeface="Cambria"/>
              </a:rPr>
              <a:t>Deployment)</a:t>
            </a:r>
            <a:endParaRPr sz="1700" dirty="0">
              <a:latin typeface="Cambria"/>
              <a:cs typeface="Cambria"/>
            </a:endParaRPr>
          </a:p>
          <a:p>
            <a:pPr marL="297815" indent="-285115">
              <a:lnSpc>
                <a:spcPct val="100000"/>
              </a:lnSpc>
              <a:spcBef>
                <a:spcPts val="1340"/>
              </a:spcBef>
              <a:buFont typeface="Arial MT"/>
              <a:buChar char="•"/>
              <a:tabLst>
                <a:tab pos="297815" algn="l"/>
              </a:tabLst>
            </a:pP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Microphone for voice data ingestion</a:t>
            </a:r>
          </a:p>
          <a:p>
            <a:pPr marL="297815" indent="-285115">
              <a:lnSpc>
                <a:spcPct val="100000"/>
              </a:lnSpc>
              <a:spcBef>
                <a:spcPts val="1340"/>
              </a:spcBef>
              <a:buFont typeface="Arial MT"/>
              <a:buChar char="•"/>
              <a:tabLst>
                <a:tab pos="297815" algn="l"/>
              </a:tabLst>
            </a:pPr>
            <a:r>
              <a:rPr lang="en-IN" sz="1700" dirty="0">
                <a:latin typeface="Cambria" panose="02040503050406030204" pitchFamily="18" charset="0"/>
                <a:ea typeface="Cambria" panose="02040503050406030204" pitchFamily="18" charset="0"/>
              </a:rPr>
              <a:t>External Storage (HDD/SSD) for large offline datasets</a:t>
            </a:r>
          </a:p>
          <a:p>
            <a:pPr marL="297815" indent="-285115">
              <a:lnSpc>
                <a:spcPct val="100000"/>
              </a:lnSpc>
              <a:spcBef>
                <a:spcPts val="1340"/>
              </a:spcBef>
              <a:buFont typeface="Arial MT"/>
              <a:buChar char="•"/>
              <a:tabLst>
                <a:tab pos="297815" algn="l"/>
              </a:tabLst>
            </a:pP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High-resolution Scanner for document digitization</a:t>
            </a:r>
            <a:endParaRPr sz="170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5100">
              <a:lnSpc>
                <a:spcPct val="100000"/>
              </a:lnSpc>
              <a:spcBef>
                <a:spcPts val="95"/>
              </a:spcBef>
            </a:pPr>
            <a:r>
              <a:rPr dirty="0"/>
              <a:t>Innovation</a:t>
            </a:r>
            <a:r>
              <a:rPr spc="-75" dirty="0"/>
              <a:t> </a:t>
            </a:r>
            <a:r>
              <a:rPr dirty="0"/>
              <a:t>or</a:t>
            </a:r>
            <a:r>
              <a:rPr spc="-75" dirty="0"/>
              <a:t> </a:t>
            </a:r>
            <a:r>
              <a:rPr dirty="0"/>
              <a:t>Novel</a:t>
            </a:r>
            <a:r>
              <a:rPr spc="-70" dirty="0"/>
              <a:t> </a:t>
            </a:r>
            <a:r>
              <a:rPr spc="-10" dirty="0"/>
              <a:t>Contributions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5800" y="914400"/>
            <a:ext cx="10589895" cy="516538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50000"/>
              </a:lnSpc>
              <a:spcBef>
                <a:spcPts val="95"/>
              </a:spcBef>
              <a:buAutoNum type="arabicPeriod"/>
              <a:tabLst>
                <a:tab pos="354965" algn="l"/>
              </a:tabLst>
            </a:pPr>
            <a:r>
              <a:rPr lang="en-US" sz="1600" b="1" dirty="0">
                <a:latin typeface="Cambria" panose="02040503050406030204" pitchFamily="18" charset="0"/>
                <a:ea typeface="Cambria" panose="02040503050406030204" pitchFamily="18" charset="0"/>
              </a:rPr>
              <a:t>Fully Offline Multimodal RAG Architecture</a:t>
            </a:r>
            <a:r>
              <a:rPr sz="1600" b="1" spc="-10" dirty="0">
                <a:latin typeface="Cambria"/>
                <a:cs typeface="Cambria"/>
              </a:rPr>
              <a:t>:</a:t>
            </a:r>
            <a:endParaRPr lang="en-US" sz="1600" b="1" spc="-10" dirty="0">
              <a:latin typeface="Cambria"/>
              <a:cs typeface="Cambria"/>
            </a:endParaRPr>
          </a:p>
          <a:p>
            <a:pPr marL="298450" indent="-285750">
              <a:lnSpc>
                <a:spcPct val="150000"/>
              </a:lnSpc>
              <a:spcBef>
                <a:spcPts val="95"/>
              </a:spcBef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Unlike most RAG systems that rely on cloud-based APIs, this project delivers a </a:t>
            </a:r>
            <a:r>
              <a:rPr lang="en-US" sz="1600" b="1" dirty="0">
                <a:latin typeface="Cambria" panose="02040503050406030204" pitchFamily="18" charset="0"/>
                <a:ea typeface="Cambria" panose="02040503050406030204" pitchFamily="18" charset="0"/>
              </a:rPr>
              <a:t>completely offline Retrieval-    Augmented Generation framework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, enabling secure operation in air-gapped and privacy-critical environments</a:t>
            </a:r>
            <a:endParaRPr sz="160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1340"/>
              </a:spcBef>
              <a:buAutoNum type="arabicPeriod" startAt="2"/>
              <a:tabLst>
                <a:tab pos="354965" algn="l"/>
              </a:tabLst>
            </a:pPr>
            <a:r>
              <a:rPr lang="en-US" sz="1600" b="1" dirty="0">
                <a:latin typeface="Cambria" panose="02040503050406030204" pitchFamily="18" charset="0"/>
                <a:ea typeface="Cambria" panose="02040503050406030204" pitchFamily="18" charset="0"/>
              </a:rPr>
              <a:t>Unified Semantic Retrieval Across Multiple Modalities</a:t>
            </a:r>
            <a:r>
              <a:rPr sz="1600" b="1" spc="-10" dirty="0">
                <a:latin typeface="Cambria"/>
                <a:cs typeface="Cambria"/>
              </a:rPr>
              <a:t>:</a:t>
            </a:r>
            <a:endParaRPr lang="en-US" sz="1600" b="1" spc="-10" dirty="0">
              <a:latin typeface="Cambria"/>
              <a:cs typeface="Cambria"/>
            </a:endParaRPr>
          </a:p>
          <a:p>
            <a:pPr marL="298450" indent="-285750">
              <a:lnSpc>
                <a:spcPct val="150000"/>
              </a:lnSpc>
              <a:spcBef>
                <a:spcPts val="1340"/>
              </a:spcBef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Text documents (DOC, PDF), images, and voice recordings are transformed into a </a:t>
            </a:r>
            <a:r>
              <a:rPr lang="en-US" sz="1600" b="1" dirty="0">
                <a:latin typeface="Cambria" panose="02040503050406030204" pitchFamily="18" charset="0"/>
                <a:ea typeface="Cambria" panose="02040503050406030204" pitchFamily="18" charset="0"/>
              </a:rPr>
              <a:t>shared semantic embedding space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, allowing seamless cross-modal retrieval using a single query interface.</a:t>
            </a:r>
            <a:endParaRPr sz="160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1340"/>
              </a:spcBef>
              <a:buAutoNum type="arabicPeriod" startAt="3"/>
              <a:tabLst>
                <a:tab pos="354965" algn="l"/>
              </a:tabLst>
            </a:pPr>
            <a:r>
              <a:rPr lang="en-IN" sz="1600" b="1" dirty="0">
                <a:latin typeface="Cambria" panose="02040503050406030204" pitchFamily="18" charset="0"/>
                <a:ea typeface="Cambria" panose="02040503050406030204" pitchFamily="18" charset="0"/>
              </a:rPr>
              <a:t>End-to-End Multimodal Ingestion Pipeline</a:t>
            </a:r>
            <a:r>
              <a:rPr lang="en-IN" sz="1600" dirty="0"/>
              <a:t>:</a:t>
            </a:r>
          </a:p>
          <a:p>
            <a:pPr marL="298450" indent="-285750">
              <a:lnSpc>
                <a:spcPct val="150000"/>
              </a:lnSpc>
              <a:spcBef>
                <a:spcPts val="1340"/>
              </a:spcBef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The system integrates </a:t>
            </a:r>
            <a:r>
              <a:rPr lang="en-US" sz="1600" b="1" dirty="0">
                <a:latin typeface="Cambria" panose="02040503050406030204" pitchFamily="18" charset="0"/>
                <a:ea typeface="Cambria" panose="02040503050406030204" pitchFamily="18" charset="0"/>
              </a:rPr>
              <a:t>document parsing, OCR, and speech-to-text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into a single automated ingestion workflow, eliminating the need for separate tools for each data format.</a:t>
            </a:r>
          </a:p>
          <a:p>
            <a:pPr marL="12700">
              <a:lnSpc>
                <a:spcPct val="150000"/>
              </a:lnSpc>
              <a:spcBef>
                <a:spcPts val="1340"/>
              </a:spcBef>
              <a:tabLst>
                <a:tab pos="354965" algn="l"/>
              </a:tabLst>
            </a:pPr>
            <a:r>
              <a:rPr lang="en-US" sz="1600" b="1" dirty="0">
                <a:latin typeface="Cambria" panose="02040503050406030204" pitchFamily="18" charset="0"/>
                <a:ea typeface="Cambria" panose="02040503050406030204" pitchFamily="18" charset="0"/>
              </a:rPr>
              <a:t>4.    Local LLM Integration for Context-Aware Generation</a:t>
            </a:r>
            <a:r>
              <a:rPr sz="1600" b="1" spc="-10" dirty="0"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:</a:t>
            </a:r>
            <a:endParaRPr lang="en-US" sz="1600" b="1" spc="-1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298450" indent="-285750">
              <a:lnSpc>
                <a:spcPct val="150000"/>
              </a:lnSpc>
              <a:spcBef>
                <a:spcPts val="1340"/>
              </a:spcBef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A locally hosted LLM is tightly coupled with the retrieval engine to generate responses strictly grounded in retrieved evidence, minimizing hallucinations while preserving data privacy.</a:t>
            </a:r>
            <a:endParaRPr sz="1600" b="1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5100">
              <a:lnSpc>
                <a:spcPct val="100000"/>
              </a:lnSpc>
              <a:spcBef>
                <a:spcPts val="95"/>
              </a:spcBef>
            </a:pPr>
            <a:r>
              <a:rPr dirty="0"/>
              <a:t>Innovation</a:t>
            </a:r>
            <a:r>
              <a:rPr spc="-75" dirty="0"/>
              <a:t> </a:t>
            </a:r>
            <a:r>
              <a:rPr dirty="0"/>
              <a:t>or</a:t>
            </a:r>
            <a:r>
              <a:rPr spc="-75" dirty="0"/>
              <a:t> </a:t>
            </a:r>
            <a:r>
              <a:rPr dirty="0"/>
              <a:t>Novel</a:t>
            </a:r>
            <a:r>
              <a:rPr spc="-70" dirty="0"/>
              <a:t> </a:t>
            </a:r>
            <a:r>
              <a:rPr spc="-10" dirty="0"/>
              <a:t>Contributions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762000" y="910598"/>
            <a:ext cx="10488295" cy="5306133"/>
          </a:xfrm>
          <a:prstGeom prst="rect">
            <a:avLst/>
          </a:prstGeom>
        </p:spPr>
        <p:txBody>
          <a:bodyPr vert="horz" wrap="square" lIns="0" tIns="15430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AutoNum type="arabicPeriod" startAt="5"/>
              <a:tabLst>
                <a:tab pos="354965" algn="l"/>
              </a:tabLst>
            </a:pPr>
            <a:r>
              <a:rPr lang="en-US" sz="1700" b="1" dirty="0">
                <a:latin typeface="Cambria" panose="02040503050406030204" pitchFamily="18" charset="0"/>
                <a:ea typeface="Cambria" panose="02040503050406030204" pitchFamily="18" charset="0"/>
              </a:rPr>
              <a:t>Offline Vector Indexing and Search Optimization</a:t>
            </a:r>
            <a:r>
              <a:rPr sz="1700" b="1" spc="-10" dirty="0">
                <a:latin typeface="Cambria"/>
                <a:cs typeface="Cambria"/>
              </a:rPr>
              <a:t>:</a:t>
            </a:r>
            <a:endParaRPr lang="en-US" sz="1700" b="1" spc="-10" dirty="0">
              <a:latin typeface="Cambria"/>
              <a:cs typeface="Cambria"/>
            </a:endParaRPr>
          </a:p>
          <a:p>
            <a:pPr marL="298450" indent="-285750">
              <a:lnSpc>
                <a:spcPct val="150000"/>
              </a:lnSpc>
              <a:spcBef>
                <a:spcPts val="95"/>
              </a:spcBef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The project implements an efficient </a:t>
            </a:r>
            <a:r>
              <a:rPr lang="en-US" sz="1700" b="1" dirty="0">
                <a:latin typeface="Cambria" panose="02040503050406030204" pitchFamily="18" charset="0"/>
                <a:ea typeface="Cambria" panose="02040503050406030204" pitchFamily="18" charset="0"/>
              </a:rPr>
              <a:t>on-device vector indexing mechanism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, optimized for low-latency semantic search without relying on external vector databases or internet connectivity.</a:t>
            </a:r>
            <a:endParaRPr sz="1700" b="1" spc="-1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1340"/>
              </a:spcBef>
              <a:buAutoNum type="arabicPeriod" startAt="6"/>
              <a:tabLst>
                <a:tab pos="354965" algn="l"/>
              </a:tabLst>
            </a:pPr>
            <a:r>
              <a:rPr lang="en-IN" sz="1700" b="1" dirty="0">
                <a:latin typeface="Cambria" panose="02040503050406030204" pitchFamily="18" charset="0"/>
                <a:ea typeface="Cambria" panose="02040503050406030204" pitchFamily="18" charset="0"/>
              </a:rPr>
              <a:t>Privacy-Preserving Knowledge Discovery</a:t>
            </a:r>
            <a:r>
              <a:rPr sz="1700" b="1" spc="-10" dirty="0">
                <a:latin typeface="Cambria"/>
                <a:cs typeface="Cambria"/>
              </a:rPr>
              <a:t>:</a:t>
            </a:r>
            <a:endParaRPr lang="en-US" sz="1700" b="1" spc="-10" dirty="0">
              <a:latin typeface="Cambria"/>
              <a:cs typeface="Cambria"/>
            </a:endParaRPr>
          </a:p>
          <a:p>
            <a:pPr marL="298450" indent="-285750">
              <a:lnSpc>
                <a:spcPct val="150000"/>
              </a:lnSpc>
              <a:spcBef>
                <a:spcPts val="1340"/>
              </a:spcBef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All data processing, embedding generation, storage, and inference occur locally, ensuring </a:t>
            </a:r>
            <a:r>
              <a:rPr lang="en-US" sz="1700" b="1" dirty="0">
                <a:latin typeface="Cambria" panose="02040503050406030204" pitchFamily="18" charset="0"/>
                <a:ea typeface="Cambria" panose="02040503050406030204" pitchFamily="18" charset="0"/>
              </a:rPr>
              <a:t>complete data sovereignty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and compliance with strict security and regulatory requirements.</a:t>
            </a:r>
            <a:endParaRPr sz="1700" b="1" spc="-1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1340"/>
              </a:spcBef>
              <a:buAutoNum type="arabicPeriod" startAt="7"/>
              <a:tabLst>
                <a:tab pos="354965" algn="l"/>
              </a:tabLst>
            </a:pPr>
            <a:r>
              <a:rPr lang="en-US" sz="1700" b="1" dirty="0">
                <a:latin typeface="Cambria" panose="02040503050406030204" pitchFamily="18" charset="0"/>
                <a:ea typeface="Cambria" panose="02040503050406030204" pitchFamily="18" charset="0"/>
              </a:rPr>
              <a:t>Extensible and Modular System Design</a:t>
            </a:r>
            <a:r>
              <a:rPr sz="1700" b="1" spc="-10" dirty="0">
                <a:latin typeface="Cambria"/>
                <a:cs typeface="Cambria"/>
              </a:rPr>
              <a:t>:</a:t>
            </a:r>
            <a:endParaRPr lang="en-US" sz="1700" b="1" spc="-10" dirty="0">
              <a:latin typeface="Cambria"/>
              <a:cs typeface="Cambria"/>
            </a:endParaRPr>
          </a:p>
          <a:p>
            <a:pPr marL="298450" indent="-285750">
              <a:lnSpc>
                <a:spcPct val="150000"/>
              </a:lnSpc>
              <a:spcBef>
                <a:spcPts val="1340"/>
              </a:spcBef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The architecture is designed to be </a:t>
            </a:r>
            <a:r>
              <a:rPr lang="en-US" sz="1700" b="1" dirty="0">
                <a:latin typeface="Cambria" panose="02040503050406030204" pitchFamily="18" charset="0"/>
                <a:ea typeface="Cambria" panose="02040503050406030204" pitchFamily="18" charset="0"/>
              </a:rPr>
              <a:t>model-agnostic and format-agnostic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, allowing future integration of additional data modalities (e.g., video) or upgraded LLMs without major redesign.</a:t>
            </a:r>
            <a:endParaRPr sz="1700" b="1" spc="-1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  <a:p>
            <a:pPr marL="354965" indent="-342265">
              <a:spcBef>
                <a:spcPts val="1340"/>
              </a:spcBef>
              <a:buAutoNum type="arabicPeriod" startAt="8"/>
              <a:tabLst>
                <a:tab pos="354965" algn="l"/>
              </a:tabLst>
            </a:pPr>
            <a:r>
              <a:rPr lang="en-IN" sz="1700" b="1" dirty="0">
                <a:latin typeface="Cambria" panose="02040503050406030204" pitchFamily="18" charset="0"/>
                <a:ea typeface="Cambria" panose="02040503050406030204" pitchFamily="18" charset="0"/>
              </a:rPr>
              <a:t>Cross-Modal Query Capability</a:t>
            </a:r>
            <a:r>
              <a:rPr sz="1700" b="1" spc="-10" dirty="0">
                <a:latin typeface="Cambria"/>
                <a:cs typeface="Cambria"/>
              </a:rPr>
              <a:t>:</a:t>
            </a:r>
            <a:endParaRPr lang="en-US" sz="1700" b="1" spc="-10" dirty="0">
              <a:latin typeface="Cambria"/>
              <a:cs typeface="Cambria"/>
            </a:endParaRPr>
          </a:p>
          <a:p>
            <a:pPr marL="298450" indent="-285750">
              <a:lnSpc>
                <a:spcPct val="150000"/>
              </a:lnSpc>
              <a:spcBef>
                <a:spcPts val="1340"/>
              </a:spcBef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Users can issue natural language queries and retrieve relevant information regardless of the original data format, enabling </a:t>
            </a:r>
            <a:r>
              <a:rPr lang="en-US" sz="1700" b="1" dirty="0">
                <a:latin typeface="Cambria" panose="02040503050406030204" pitchFamily="18" charset="0"/>
                <a:ea typeface="Cambria" panose="02040503050406030204" pitchFamily="18" charset="0"/>
              </a:rPr>
              <a:t>text-to-image, text-to-audio, and document-to-document semantic search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  <a:endParaRPr sz="1700" b="1" spc="-10" dirty="0"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82796" y="1441703"/>
            <a:ext cx="3893820" cy="393496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230</TotalTime>
  <Words>895</Words>
  <Application>Microsoft Office PowerPoint</Application>
  <PresentationFormat>Widescreen</PresentationFormat>
  <Paragraphs>98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Arial MT</vt:lpstr>
      <vt:lpstr>Cambria</vt:lpstr>
      <vt:lpstr>Verdana</vt:lpstr>
      <vt:lpstr>Office Theme</vt:lpstr>
      <vt:lpstr>CSE7302- University Project Review-1</vt:lpstr>
      <vt:lpstr>Content</vt:lpstr>
      <vt:lpstr>Problem Statement :</vt:lpstr>
      <vt:lpstr>Objectives :</vt:lpstr>
      <vt:lpstr>Objectives :</vt:lpstr>
      <vt:lpstr>Analysis of Problem Statement ( Software Requirements )</vt:lpstr>
      <vt:lpstr>Analysis of Problem Statement ( Hardware Requirements )</vt:lpstr>
      <vt:lpstr>Innovation or Novel Contributions</vt:lpstr>
      <vt:lpstr>Innovation or Novel Contributions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CSE7101- Capstone Project Review-1</dc:title>
  <dc:creator>kovuri nizam</dc:creator>
  <dc:description/>
  <cp:lastModifiedBy>Mohamed Aslam Pasha</cp:lastModifiedBy>
  <cp:revision>7</cp:revision>
  <dcterms:created xsi:type="dcterms:W3CDTF">2025-08-10T14:24:47Z</dcterms:created>
  <dcterms:modified xsi:type="dcterms:W3CDTF">2026-04-23T08:07:37Z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2025-08-10T00:00:00Z</vt:filetime>
  </property>
  <property fmtid="{D5CDD505-2E9C-101B-9397-08002B2CF9AE}" pid="3" name="Creator">
    <vt:lpwstr>WPS Presentation</vt:lpwstr>
  </property>
  <property fmtid="{D5CDD505-2E9C-101B-9397-08002B2CF9AE}" pid="4" name="LastSaved">
    <vt:filetime>2025-08-10T00:00:00Z</vt:filetime>
  </property>
  <property fmtid="{D5CDD505-2E9C-101B-9397-08002B2CF9AE}" pid="5" name="SourceModified">
    <vt:lpwstr>D:20250810153115+05'30'</vt:lpwstr>
  </property>
</Properties>
</file>